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6" y="1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8483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PortraitPay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rgbClr val="CCDDEE"/>
                </a:solidFill>
              </a:rPr>
              <a:t>Business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Your Face. Your Rights.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AABB"/>
                </a:solidFill>
              </a:rPr>
              <a:t>Digital Avatar Licensing  |  Blockchain Evidence  |  Direct Law Firm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99AA"/>
                </a:solidFill>
              </a:rPr>
              <a:t>2026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C28D84C-F560-D2CD-4744-784228F0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751" y="786384"/>
            <a:ext cx="1654191" cy="1418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Portrait Rights Infringement Is Out of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1089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</a:rPr>
              <a:t>340%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2024: AI-generated infringement cases increased 340% YoY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31089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F4444"/>
                </a:solidFill>
              </a:rPr>
              <a:t>5 </a:t>
            </a:r>
            <a:r>
              <a:rPr lang="en-US" altLang="zh-CN" sz="4000" b="1" dirty="0">
                <a:solidFill>
                  <a:srgbClr val="EF4444"/>
                </a:solidFill>
              </a:rPr>
              <a:t>Million </a:t>
            </a:r>
            <a:r>
              <a:rPr sz="4000" b="1" dirty="0">
                <a:solidFill>
                  <a:srgbClr val="EF4444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7392" y="2399776"/>
            <a:ext cx="2625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1A1A2E"/>
                </a:solidFill>
              </a:rPr>
              <a:t>2025: Top celebrity deepfake fraud exceeded /case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554480"/>
            <a:ext cx="31089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7078" y="2377440"/>
            <a:ext cx="21567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1A1A2E"/>
                </a:solidFill>
              </a:rPr>
              <a:t>2026: 3 out of 10 influencers will have portrait stolen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No one to turn to. Nothing works. Costs too much.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228600" cy="2286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858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Platforms do nothing: Rely on user reports - very inefficient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26280"/>
            <a:ext cx="228600" cy="2286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531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Personal rights protection costs start at + for lawyers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0474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Evidence improperly documented: Screenshots hold weak weight in court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Hollywood in Action: SAG-AFTRA 2024 Strike -&gt; AI must not abuse actors portraits and voices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D5D82-AAB6-DE64-7D29-A4D678F0683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1DF1B-C077-6AD0-A91D-AB332CF2095D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12D86-1E76-81D7-145F-D002DAA6A111}"/>
              </a:ext>
            </a:extLst>
          </p:cNvPr>
          <p:cNvSpPr txBox="1"/>
          <p:nvPr/>
        </p:nvSpPr>
        <p:spPr>
          <a:xfrm>
            <a:off x="457200" y="22860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What Is </a:t>
            </a:r>
            <a:r>
              <a:rPr lang="en-US" sz="3200" b="1" dirty="0" err="1">
                <a:solidFill>
                  <a:srgbClr val="FFFFFF"/>
                </a:solidFill>
              </a:rPr>
              <a:t>PortraitPay</a:t>
            </a:r>
            <a:r>
              <a:rPr lang="en-US" sz="3200" b="1" dirty="0">
                <a:solidFill>
                  <a:srgbClr val="FFFFFF"/>
                </a:solidFill>
              </a:rPr>
              <a:t> AI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F8B04-8720-1837-7923-836051069CF8}"/>
              </a:ext>
            </a:extLst>
          </p:cNvPr>
          <p:cNvSpPr txBox="1"/>
          <p:nvPr/>
        </p:nvSpPr>
        <p:spPr>
          <a:xfrm>
            <a:off x="457200" y="86868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CCDDEE"/>
                </a:solidFill>
              </a:rPr>
              <a:t>A Blockchain Platform for Portrait Rights Protection &amp; Licensing</a:t>
            </a:r>
            <a:endParaRPr sz="1400" b="0" dirty="0">
              <a:solidFill>
                <a:srgbClr val="CCDDE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FC3D8-4BC2-A49C-E9D4-F7BD3052DF36}"/>
              </a:ext>
            </a:extLst>
          </p:cNvPr>
          <p:cNvSpPr txBox="1"/>
          <p:nvPr/>
        </p:nvSpPr>
        <p:spPr>
          <a:xfrm>
            <a:off x="731520" y="146304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1E3A5F"/>
                </a:solidFill>
              </a:rPr>
              <a:t>Register &amp; Certify → Blockchain Evidence → Digital Avatar Licensing → Law Firm Services</a:t>
            </a:r>
            <a:endParaRPr sz="2000" b="1" dirty="0">
              <a:solidFill>
                <a:srgbClr val="1E3A5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597D9-27A5-DBA3-097D-3D164820B73A}"/>
              </a:ext>
            </a:extLst>
          </p:cNvPr>
          <p:cNvSpPr/>
          <p:nvPr/>
        </p:nvSpPr>
        <p:spPr>
          <a:xfrm>
            <a:off x="173736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9D1AE-6EB7-C6DF-A657-D93970AF4C4A}"/>
              </a:ext>
            </a:extLst>
          </p:cNvPr>
          <p:cNvSpPr txBox="1"/>
          <p:nvPr/>
        </p:nvSpPr>
        <p:spPr>
          <a:xfrm>
            <a:off x="17373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D3A642-2AFA-211D-F42E-C81D6FDFE2E8}"/>
              </a:ext>
            </a:extLst>
          </p:cNvPr>
          <p:cNvSpPr/>
          <p:nvPr/>
        </p:nvSpPr>
        <p:spPr>
          <a:xfrm>
            <a:off x="73152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EB13D-686F-003A-61DA-EBE91648FD0E}"/>
              </a:ext>
            </a:extLst>
          </p:cNvPr>
          <p:cNvSpPr txBox="1"/>
          <p:nvPr/>
        </p:nvSpPr>
        <p:spPr>
          <a:xfrm>
            <a:off x="731520" y="283464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</a:rPr>
              <a:t>Register &amp; Certify </a:t>
            </a:r>
            <a:endParaRPr sz="1600" b="1" dirty="0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3B568-B375-3727-38EF-D89266B6D703}"/>
              </a:ext>
            </a:extLst>
          </p:cNvPr>
          <p:cNvSpPr txBox="1"/>
          <p:nvPr/>
        </p:nvSpPr>
        <p:spPr>
          <a:xfrm>
            <a:off x="731520" y="3246120"/>
            <a:ext cx="233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>
                <a:solidFill>
                  <a:srgbClr val="1A1A2E"/>
                </a:solidFill>
              </a:rPr>
              <a:t>Upload photo / AI face comparison / 128-dim vector in DB / SHA-256 on-chain</a:t>
            </a:r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678C9-25CE-CDDA-A858-30B3C59C7AEE}"/>
              </a:ext>
            </a:extLst>
          </p:cNvPr>
          <p:cNvSpPr/>
          <p:nvPr/>
        </p:nvSpPr>
        <p:spPr>
          <a:xfrm>
            <a:off x="3337560" y="3337560"/>
            <a:ext cx="228600" cy="457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8DC527-D084-02E5-46D5-5F7E51339C59}"/>
              </a:ext>
            </a:extLst>
          </p:cNvPr>
          <p:cNvSpPr/>
          <p:nvPr/>
        </p:nvSpPr>
        <p:spPr>
          <a:xfrm>
            <a:off x="457200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84D337-66D8-AA32-9923-ED0E7356E356}"/>
              </a:ext>
            </a:extLst>
          </p:cNvPr>
          <p:cNvSpPr txBox="1"/>
          <p:nvPr/>
        </p:nvSpPr>
        <p:spPr>
          <a:xfrm>
            <a:off x="45720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47AC9E-74CC-7333-90B0-36D59EC94FF8}"/>
              </a:ext>
            </a:extLst>
          </p:cNvPr>
          <p:cNvSpPr/>
          <p:nvPr/>
        </p:nvSpPr>
        <p:spPr>
          <a:xfrm>
            <a:off x="356616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13DE0-A1A6-4725-6370-22EA6B8B750E}"/>
              </a:ext>
            </a:extLst>
          </p:cNvPr>
          <p:cNvSpPr txBox="1"/>
          <p:nvPr/>
        </p:nvSpPr>
        <p:spPr>
          <a:xfrm>
            <a:off x="3566160" y="283464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</a:rPr>
              <a:t>Blockchain Evidence </a:t>
            </a:r>
            <a:endParaRPr sz="1600" b="1" dirty="0">
              <a:solidFill>
                <a:srgbClr val="1E3A5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5DFAA-8653-165C-F733-4AFB7F7A541D}"/>
              </a:ext>
            </a:extLst>
          </p:cNvPr>
          <p:cNvSpPr txBox="1"/>
          <p:nvPr/>
        </p:nvSpPr>
        <p:spPr>
          <a:xfrm>
            <a:off x="3786352" y="3296598"/>
            <a:ext cx="2035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>
                <a:solidFill>
                  <a:srgbClr val="1A1A2E"/>
                </a:solidFill>
              </a:rPr>
              <a:t>IPFS permanent storage / Base chain timestamp / Tamper-proof</a:t>
            </a:r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138186-54FA-A18D-DFD3-E6FAE1AAA3E1}"/>
              </a:ext>
            </a:extLst>
          </p:cNvPr>
          <p:cNvSpPr/>
          <p:nvPr/>
        </p:nvSpPr>
        <p:spPr>
          <a:xfrm>
            <a:off x="6172200" y="3337560"/>
            <a:ext cx="228600" cy="457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A3ACA1-4AD0-5745-DE0B-026966BC2825}"/>
              </a:ext>
            </a:extLst>
          </p:cNvPr>
          <p:cNvSpPr/>
          <p:nvPr/>
        </p:nvSpPr>
        <p:spPr>
          <a:xfrm>
            <a:off x="740664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CAF4FE-0CBE-D942-AC3E-CD9E43E5ED1B}"/>
              </a:ext>
            </a:extLst>
          </p:cNvPr>
          <p:cNvSpPr txBox="1"/>
          <p:nvPr/>
        </p:nvSpPr>
        <p:spPr>
          <a:xfrm>
            <a:off x="740664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8D23A3-85D3-00D7-23D0-92FE1D625DFB}"/>
              </a:ext>
            </a:extLst>
          </p:cNvPr>
          <p:cNvSpPr/>
          <p:nvPr/>
        </p:nvSpPr>
        <p:spPr>
          <a:xfrm>
            <a:off x="640080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2C8937-BEFD-FA98-243A-A9C523C8427D}"/>
              </a:ext>
            </a:extLst>
          </p:cNvPr>
          <p:cNvSpPr txBox="1"/>
          <p:nvPr/>
        </p:nvSpPr>
        <p:spPr>
          <a:xfrm>
            <a:off x="6400800" y="283464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</a:rPr>
              <a:t>Digital Avatar Licensing</a:t>
            </a:r>
            <a:endParaRPr sz="1600" b="1" dirty="0">
              <a:solidFill>
                <a:srgbClr val="1E3A5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EA6B11-06D5-61D0-3876-043FC42B2F3D}"/>
              </a:ext>
            </a:extLst>
          </p:cNvPr>
          <p:cNvSpPr txBox="1"/>
          <p:nvPr/>
        </p:nvSpPr>
        <p:spPr>
          <a:xfrm>
            <a:off x="6702184" y="3361641"/>
            <a:ext cx="1957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>
                <a:solidFill>
                  <a:srgbClr val="1A1A2E"/>
                </a:solidFill>
              </a:rPr>
              <a:t>Signature data package / </a:t>
            </a:r>
            <a:r>
              <a:rPr lang="en-US" sz="1200" b="0" dirty="0" err="1">
                <a:solidFill>
                  <a:srgbClr val="1A1A2E"/>
                </a:solidFill>
              </a:rPr>
              <a:t>LibTV</a:t>
            </a:r>
            <a:r>
              <a:rPr lang="en-US" sz="1200" b="0" dirty="0">
                <a:solidFill>
                  <a:srgbClr val="1A1A2E"/>
                </a:solidFill>
              </a:rPr>
              <a:t>/Runway integration / Auto profit sharing</a:t>
            </a:r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A9AAF6-6926-1782-A74C-C7E3EB35872F}"/>
              </a:ext>
            </a:extLst>
          </p:cNvPr>
          <p:cNvSpPr/>
          <p:nvPr/>
        </p:nvSpPr>
        <p:spPr>
          <a:xfrm>
            <a:off x="9006840" y="3337560"/>
            <a:ext cx="228600" cy="457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367711-42DA-2056-AC50-8AA17841585F}"/>
              </a:ext>
            </a:extLst>
          </p:cNvPr>
          <p:cNvSpPr/>
          <p:nvPr/>
        </p:nvSpPr>
        <p:spPr>
          <a:xfrm>
            <a:off x="1024128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9F0AC-067A-3DC1-943A-24481DFB84F0}"/>
              </a:ext>
            </a:extLst>
          </p:cNvPr>
          <p:cNvSpPr txBox="1"/>
          <p:nvPr/>
        </p:nvSpPr>
        <p:spPr>
          <a:xfrm>
            <a:off x="102412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96AC3C-2938-DE4B-D8DA-410EE1334109}"/>
              </a:ext>
            </a:extLst>
          </p:cNvPr>
          <p:cNvSpPr/>
          <p:nvPr/>
        </p:nvSpPr>
        <p:spPr>
          <a:xfrm>
            <a:off x="923544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B700F9-91A4-0635-C366-B65FD36E8265}"/>
              </a:ext>
            </a:extLst>
          </p:cNvPr>
          <p:cNvSpPr txBox="1"/>
          <p:nvPr/>
        </p:nvSpPr>
        <p:spPr>
          <a:xfrm>
            <a:off x="9235440" y="283464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</a:rPr>
              <a:t>Law Firm Services</a:t>
            </a:r>
            <a:endParaRPr sz="1600" b="1" dirty="0">
              <a:solidFill>
                <a:srgbClr val="1E3A5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F10321-FBE1-C7AD-7B34-5B390AE9C6A1}"/>
              </a:ext>
            </a:extLst>
          </p:cNvPr>
          <p:cNvSpPr txBox="1"/>
          <p:nvPr/>
        </p:nvSpPr>
        <p:spPr>
          <a:xfrm>
            <a:off x="9509760" y="3373666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Auto infringement detection / Law firm takes case / Platform earns 1%</a:t>
            </a:r>
          </a:p>
          <a:p>
            <a:pPr algn="ctr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8E58A4-123D-9B38-0A97-74E0ADF652B1}"/>
              </a:ext>
            </a:extLst>
          </p:cNvPr>
          <p:cNvSpPr/>
          <p:nvPr/>
        </p:nvSpPr>
        <p:spPr>
          <a:xfrm>
            <a:off x="717857" y="4611468"/>
            <a:ext cx="10698480" cy="6400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93AE36-6074-61A9-BAE4-338BE7F93BCC}"/>
              </a:ext>
            </a:extLst>
          </p:cNvPr>
          <p:cNvSpPr txBox="1"/>
          <p:nvPr/>
        </p:nvSpPr>
        <p:spPr>
          <a:xfrm>
            <a:off x="929487" y="4701851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E3A5F"/>
                </a:solidFill>
              </a:rPr>
              <a:t>+</a:t>
            </a:r>
            <a:r>
              <a:rPr lang="en-US" sz="1300" b="0" dirty="0">
                <a:solidFill>
                  <a:srgbClr val="1E3A5F"/>
                </a:solidFill>
              </a:rPr>
              <a:t>Digital Avatar Licensing: Production companies/Brands -&gt; Generate avatars on </a:t>
            </a:r>
            <a:r>
              <a:rPr lang="en-US" sz="1300" b="0" dirty="0" err="1">
                <a:solidFill>
                  <a:srgbClr val="1E3A5F"/>
                </a:solidFill>
              </a:rPr>
              <a:t>LibTV</a:t>
            </a:r>
            <a:r>
              <a:rPr lang="en-US" sz="1300" b="0" dirty="0">
                <a:solidFill>
                  <a:srgbClr val="1E3A5F"/>
                </a:solidFill>
              </a:rPr>
              <a:t>/Runway/</a:t>
            </a:r>
            <a:r>
              <a:rPr lang="en-US" altLang="zh-CN" sz="1300" b="0" dirty="0">
                <a:solidFill>
                  <a:srgbClr val="1E3A5F"/>
                </a:solidFill>
              </a:rPr>
              <a:t>Midjourney</a:t>
            </a:r>
            <a:r>
              <a:rPr lang="en-US" sz="1300" b="0" dirty="0">
                <a:solidFill>
                  <a:srgbClr val="1E3A5F"/>
                </a:solidFill>
              </a:rPr>
              <a:t> -&gt; Platform verifies signature -&gt; Auto profit sharing</a:t>
            </a:r>
            <a:endParaRPr sz="1300" b="0" dirty="0">
              <a:solidFill>
                <a:srgbClr val="1E3A5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94A38A-0DBC-5C01-0B5C-D3286B750290}"/>
              </a:ext>
            </a:extLst>
          </p:cNvPr>
          <p:cNvSpPr txBox="1"/>
          <p:nvPr/>
        </p:nvSpPr>
        <p:spPr>
          <a:xfrm>
            <a:off x="1051560" y="5696932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10B981"/>
                </a:solidFill>
              </a:rPr>
              <a:t>New: Digital Avatar Licensing contract templates (Standard/Exclusive/Endorsement/Film Adaptation), blockchain certificate + lawyer review</a:t>
            </a:r>
            <a:endParaRPr sz="1300" b="1" dirty="0">
              <a:solidFill>
                <a:srgbClr val="10B98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Three Core Function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19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Portrait Rights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A1A2E"/>
                </a:solidFill>
              </a:rPr>
              <a:t>* Upload portrait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A1A2E"/>
                </a:solidFill>
              </a:rPr>
              <a:t>* AI face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128-dim vector in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SHA-256 on-chain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IPFS permanent 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554480"/>
            <a:ext cx="35661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17720" y="16916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19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Digital Avatar Licensing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4 contract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Lawyer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Blockchain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Auto profit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Contract PDF download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554480"/>
            <a:ext cx="35661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58200" y="16916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1719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Direct Law Firm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Application/audit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Infringement report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Case status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Earnings withdrawal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52160"/>
            <a:ext cx="1088136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9253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User registers portrait -&gt; Certify -&gt; Sign Digital Avatar Licensing Contract -&gt; Blockchain Evidence -&gt; Platform earns 1% -&gt; Law firm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Now Is the Best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AI Video Explosion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2025-2026: Sora/Runway explode, infringement surges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</a:rP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Digital Avatar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Production companies/brands urgently need Digital Avatar Licensing compliant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Supply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480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No professional Digital Avatar Licensing + blockchain certificate platform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Time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Only 12-18 months of first-mover advantage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Large Is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Digital Avatar Licensing - A Coming Trillion-Dollar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02920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71" y="27660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CCDDEE"/>
                </a:solidFill>
              </a:rPr>
              <a:t>Year 1 Target Platform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54480"/>
            <a:ext cx="192024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5A87"/>
                </a:solidFill>
              </a:rPr>
              <a:t>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Paying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/person (Currently Free)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192024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Digital Avatar Licensing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Platform earns 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554480"/>
            <a:ext cx="192024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Enterprise/Celebrity Cert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$299/year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35661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Global digital avatar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$50B+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023360"/>
            <a:ext cx="35661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SAM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Serviceable addressable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$5B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023360"/>
            <a:ext cx="35661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3-year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$100M</a:t>
            </a: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BE727D6A-8BA1-844C-84CF-AFDC7B89A8D1}"/>
              </a:ext>
            </a:extLst>
          </p:cNvPr>
          <p:cNvSpPr txBox="1"/>
          <p:nvPr/>
        </p:nvSpPr>
        <p:spPr>
          <a:xfrm>
            <a:off x="928589" y="2045970"/>
            <a:ext cx="4452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$</a:t>
            </a:r>
            <a:r>
              <a:rPr sz="4800" b="1" dirty="0">
                <a:solidFill>
                  <a:srgbClr val="FFFFFF"/>
                </a:solidFill>
              </a:rPr>
              <a:t>20</a:t>
            </a:r>
            <a:r>
              <a:rPr lang="en-US" sz="4800" b="1" dirty="0">
                <a:solidFill>
                  <a:srgbClr val="FFFFFF"/>
                </a:solidFill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</a:rPr>
              <a:t>Million</a:t>
            </a:r>
            <a:endParaRPr sz="4800" b="1" dirty="0">
              <a:solidFill>
                <a:srgbClr val="FFFFFF"/>
              </a:solidFill>
            </a:endParaRP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4E3DBBBF-B2C1-E4D8-0093-7AFF425AC947}"/>
              </a:ext>
            </a:extLst>
          </p:cNvPr>
          <p:cNvSpPr txBox="1"/>
          <p:nvPr/>
        </p:nvSpPr>
        <p:spPr>
          <a:xfrm>
            <a:off x="8046720" y="1659076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2D5A87"/>
                </a:solidFill>
              </a:rPr>
              <a:t>5</a:t>
            </a:r>
            <a:r>
              <a:rPr lang="en-US" sz="2200" b="1" dirty="0">
                <a:solidFill>
                  <a:srgbClr val="2D5A87"/>
                </a:solidFill>
              </a:rPr>
              <a:t> Million</a:t>
            </a:r>
            <a:endParaRPr sz="2200" b="1" dirty="0">
              <a:solidFill>
                <a:srgbClr val="2D5A87"/>
              </a:solidFill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4C67FCC5-B3D5-829C-BCE0-F3BDD194CF74}"/>
              </a:ext>
            </a:extLst>
          </p:cNvPr>
          <p:cNvSpPr txBox="1"/>
          <p:nvPr/>
        </p:nvSpPr>
        <p:spPr>
          <a:xfrm>
            <a:off x="10149840" y="1651757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2D5A87"/>
                </a:solidFill>
              </a:rPr>
              <a:t>2 Million</a:t>
            </a:r>
            <a:endParaRPr sz="2200" b="1" dirty="0">
              <a:solidFill>
                <a:srgbClr val="2D5A8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vs All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98040"/>
            <a:ext cx="380080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9224" y="1594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5318" y="1511599"/>
            <a:ext cx="38404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572" y="1579969"/>
            <a:ext cx="3060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PortraitPay</a:t>
            </a:r>
            <a:r>
              <a:rPr lang="en-US" sz="1400" b="1" dirty="0">
                <a:solidFill>
                  <a:srgbClr val="FFFFFF"/>
                </a:solidFill>
              </a:rPr>
              <a:t> AI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92028" y="1498145"/>
            <a:ext cx="3671001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95474" y="1565202"/>
            <a:ext cx="2396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Other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384048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05430" y="2057400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Legal Validity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On-chain evidence + 128-dim face vector + law firm endorsement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831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Screenshots/recordings, weak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07208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2807208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05430" y="2807208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898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Rights Protection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98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Law firm handles all, zero cost to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8310" y="2898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+ lawyer fees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57015"/>
            <a:ext cx="384048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3557015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05430" y="3557015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6484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Digital Avatar Licensing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484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Signature data package, LibTV/Runway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8310" y="36484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No such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06824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4306824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05430" y="4306824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3982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Licensing Revenue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3982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Smart contract auto distribution, real-time settlement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8310" y="43982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No auto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56631"/>
            <a:ext cx="384048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5056631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05430" y="5056631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4807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Privacy Protection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14807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IPFS distributed storage, face vector encrypted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8310" y="514807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Centralized servers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06440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97680" y="5806440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05430" y="5806440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897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Brand Endorsement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97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Coinbase endorsed, Base chain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8310" y="58978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No blockchain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>
            <a:extLst>
              <a:ext uri="{FF2B5EF4-FFF2-40B4-BE49-F238E27FC236}">
                <a16:creationId xmlns:a16="http://schemas.microsoft.com/office/drawing/2014/main" id="{E07F3343-425A-9FE6-7B5F-9524946FB3AD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2">
            <a:extLst>
              <a:ext uri="{FF2B5EF4-FFF2-40B4-BE49-F238E27FC236}">
                <a16:creationId xmlns:a16="http://schemas.microsoft.com/office/drawing/2014/main" id="{5E038E71-C594-6A45-9283-9CBE5285C135}"/>
              </a:ext>
            </a:extLst>
          </p:cNvPr>
          <p:cNvSpPr txBox="1"/>
          <p:nvPr/>
        </p:nvSpPr>
        <p:spPr>
          <a:xfrm>
            <a:off x="457200" y="22860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Digital Avatar Licensing - Core New Feature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4470D5C2-CC51-B842-0721-1E5C8D81029E}"/>
              </a:ext>
            </a:extLst>
          </p:cNvPr>
          <p:cNvSpPr txBox="1"/>
          <p:nvPr/>
        </p:nvSpPr>
        <p:spPr>
          <a:xfrm>
            <a:off x="457200" y="86868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CCDDEE"/>
                </a:solidFill>
              </a:rPr>
              <a:t>Attract Production Companies &amp; Brands to You</a:t>
            </a:r>
            <a:endParaRPr sz="1400" b="0" dirty="0">
              <a:solidFill>
                <a:srgbClr val="CCDDEE"/>
              </a:solidFill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78D5CDA3-9E3C-1A49-3EC1-43A76EF9EDA5}"/>
              </a:ext>
            </a:extLst>
          </p:cNvPr>
          <p:cNvSpPr/>
          <p:nvPr/>
        </p:nvSpPr>
        <p:spPr>
          <a:xfrm>
            <a:off x="640080" y="1458806"/>
            <a:ext cx="5303520" cy="265599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B3F1FBAE-22EB-6299-D71A-904DD5ACFAD5}"/>
              </a:ext>
            </a:extLst>
          </p:cNvPr>
          <p:cNvSpPr txBox="1"/>
          <p:nvPr/>
        </p:nvSpPr>
        <p:spPr>
          <a:xfrm>
            <a:off x="822960" y="1691640"/>
            <a:ext cx="4937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D48A00"/>
                </a:solidFill>
              </a:rPr>
              <a:t>Market Demand</a:t>
            </a:r>
            <a:endParaRPr sz="1600" b="1" dirty="0">
              <a:solidFill>
                <a:srgbClr val="D48A00"/>
              </a:solidFill>
            </a:endParaRP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EB99E676-6ADC-CD65-2030-25D572885275}"/>
              </a:ext>
            </a:extLst>
          </p:cNvPr>
          <p:cNvSpPr txBox="1"/>
          <p:nvPr/>
        </p:nvSpPr>
        <p:spPr>
          <a:xfrm>
            <a:off x="822960" y="2209607"/>
            <a:ext cx="3696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0" dirty="0">
                <a:solidFill>
                  <a:srgbClr val="1A1A2E"/>
                </a:solidFill>
              </a:rPr>
              <a:t>* </a:t>
            </a:r>
            <a:r>
              <a:rPr lang="en-US" sz="1200" b="0" dirty="0">
                <a:solidFill>
                  <a:srgbClr val="1A1A2E"/>
                </a:solidFill>
              </a:rPr>
              <a:t>Directors/production companies want digital avatar IP </a:t>
            </a:r>
            <a:br>
              <a:rPr lang="en-US" sz="1200" b="0" dirty="0">
                <a:solidFill>
                  <a:srgbClr val="1A1A2E"/>
                </a:solidFill>
              </a:rPr>
            </a:br>
            <a:r>
              <a:rPr lang="en-US" sz="1200" b="0" dirty="0">
                <a:solidFill>
                  <a:srgbClr val="1A1A2E"/>
                </a:solidFill>
              </a:rPr>
              <a:t>    but don't understand contracts</a:t>
            </a:r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641C0743-8607-EAD4-C92B-52BC8DB228AF}"/>
              </a:ext>
            </a:extLst>
          </p:cNvPr>
          <p:cNvSpPr txBox="1"/>
          <p:nvPr/>
        </p:nvSpPr>
        <p:spPr>
          <a:xfrm>
            <a:off x="822960" y="2661667"/>
            <a:ext cx="3696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sz="1200" b="0" dirty="0">
                <a:solidFill>
                  <a:srgbClr val="1A1A2E"/>
                </a:solidFill>
              </a:rPr>
              <a:t>Cross-industry enterprises (brand/education/gaming) </a:t>
            </a:r>
            <a:br>
              <a:rPr lang="en-US" sz="1200" b="0" dirty="0">
                <a:solidFill>
                  <a:srgbClr val="1A1A2E"/>
                </a:solidFill>
              </a:rPr>
            </a:br>
            <a:r>
              <a:rPr lang="en-US" sz="1200" b="0" dirty="0">
                <a:solidFill>
                  <a:srgbClr val="1A1A2E"/>
                </a:solidFill>
              </a:rPr>
              <a:t>    need legitimate authorization proof</a:t>
            </a:r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4F2B0477-0D5A-4ADD-DE0D-79B30FFCCDDF}"/>
              </a:ext>
            </a:extLst>
          </p:cNvPr>
          <p:cNvSpPr txBox="1"/>
          <p:nvPr/>
        </p:nvSpPr>
        <p:spPr>
          <a:xfrm>
            <a:off x="822960" y="3088338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altLang="zh-CN" sz="1200" dirty="0"/>
              <a:t>No unified authorization verification standard on</a:t>
            </a:r>
            <a:br>
              <a:rPr lang="en-US" altLang="zh-CN" sz="1200" dirty="0"/>
            </a:br>
            <a:r>
              <a:rPr lang="en-US" altLang="zh-CN" sz="1200" dirty="0"/>
              <a:t>    </a:t>
            </a:r>
            <a:r>
              <a:rPr lang="en-US" altLang="zh-CN" sz="1200" dirty="0" err="1"/>
              <a:t>LibTV</a:t>
            </a:r>
            <a:r>
              <a:rPr lang="en-US" altLang="zh-CN" sz="1200" dirty="0"/>
              <a:t>/Runway/</a:t>
            </a:r>
            <a:r>
              <a:rPr lang="en-US" altLang="zh-CN" sz="1200" dirty="0">
                <a:solidFill>
                  <a:srgbClr val="1E3A5F"/>
                </a:solidFill>
              </a:rPr>
              <a:t> </a:t>
            </a:r>
            <a:r>
              <a:rPr lang="en-US" altLang="zh-CN" sz="1200" dirty="0"/>
              <a:t>Midjourney</a:t>
            </a:r>
          </a:p>
          <a:p>
            <a:pPr algn="l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542733D5-F6A4-683A-B7A7-48824D66C3F2}"/>
              </a:ext>
            </a:extLst>
          </p:cNvPr>
          <p:cNvSpPr txBox="1"/>
          <p:nvPr/>
        </p:nvSpPr>
        <p:spPr>
          <a:xfrm>
            <a:off x="822960" y="3534416"/>
            <a:ext cx="4937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sz="1200" b="0" dirty="0">
                <a:solidFill>
                  <a:srgbClr val="1A1A2E"/>
                </a:solidFill>
              </a:rPr>
              <a:t>High lawyer fees, scattered contract templates, verification difficulties</a:t>
            </a:r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A1D811D6-FFF3-DFFA-F1E9-222089E29430}"/>
              </a:ext>
            </a:extLst>
          </p:cNvPr>
          <p:cNvSpPr/>
          <p:nvPr/>
        </p:nvSpPr>
        <p:spPr>
          <a:xfrm>
            <a:off x="6248402" y="1458806"/>
            <a:ext cx="5577840" cy="2655994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9016F797-051E-4C90-C082-425FB17E8C31}"/>
              </a:ext>
            </a:extLst>
          </p:cNvPr>
          <p:cNvSpPr txBox="1"/>
          <p:nvPr/>
        </p:nvSpPr>
        <p:spPr>
          <a:xfrm>
            <a:off x="6400800" y="163079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 err="1">
                <a:solidFill>
                  <a:srgbClr val="10B981"/>
                </a:solidFill>
              </a:rPr>
              <a:t>PortraitPay</a:t>
            </a:r>
            <a:r>
              <a:rPr lang="en-US" sz="1600" b="1" dirty="0">
                <a:solidFill>
                  <a:srgbClr val="10B981"/>
                </a:solidFill>
              </a:rPr>
              <a:t> </a:t>
            </a:r>
            <a:r>
              <a:rPr lang="en-US" altLang="zh-CN" sz="1600" b="1" dirty="0">
                <a:solidFill>
                  <a:srgbClr val="10B981"/>
                </a:solidFill>
              </a:rPr>
              <a:t>AI</a:t>
            </a:r>
            <a:r>
              <a:rPr lang="en-US" sz="1600" b="1" dirty="0">
                <a:solidFill>
                  <a:srgbClr val="10B981"/>
                </a:solidFill>
              </a:rPr>
              <a:t> Solution</a:t>
            </a:r>
            <a:endParaRPr sz="1600" b="1" dirty="0">
              <a:solidFill>
                <a:srgbClr val="10B981"/>
              </a:solidFill>
            </a:endParaRP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FCCCABC8-CDBF-F7FF-1BB7-619595AE329B}"/>
              </a:ext>
            </a:extLst>
          </p:cNvPr>
          <p:cNvSpPr txBox="1"/>
          <p:nvPr/>
        </p:nvSpPr>
        <p:spPr>
          <a:xfrm>
            <a:off x="6400800" y="210312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dirty="0">
                <a:solidFill>
                  <a:srgbClr val="1A1A2E"/>
                </a:solidFill>
              </a:rPr>
              <a:t>* </a:t>
            </a:r>
            <a:r>
              <a:rPr lang="fr-FR" altLang="zh-CN" sz="1200" dirty="0"/>
              <a:t>4 </a:t>
            </a:r>
            <a:r>
              <a:rPr lang="fr-FR" altLang="zh-CN" sz="1200" dirty="0" err="1"/>
              <a:t>contract</a:t>
            </a:r>
            <a:r>
              <a:rPr lang="fr-FR" altLang="zh-CN" sz="1200" dirty="0"/>
              <a:t> </a:t>
            </a:r>
            <a:r>
              <a:rPr lang="fr-FR" altLang="zh-CN" sz="1200" dirty="0" err="1"/>
              <a:t>templates</a:t>
            </a:r>
            <a:r>
              <a:rPr lang="fr-FR" altLang="zh-CN" sz="1200" dirty="0"/>
              <a:t>: Standard/Exclusive/</a:t>
            </a:r>
            <a:r>
              <a:rPr lang="fr-FR" altLang="zh-CN" sz="1200" dirty="0" err="1"/>
              <a:t>Endorsement</a:t>
            </a:r>
            <a:r>
              <a:rPr lang="fr-FR" altLang="zh-CN" sz="1200" dirty="0"/>
              <a:t>/Film Adaptation</a:t>
            </a:r>
          </a:p>
          <a:p>
            <a:pPr algn="l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F5415CF5-74DB-4745-E0E4-E7D7AF4036BE}"/>
              </a:ext>
            </a:extLst>
          </p:cNvPr>
          <p:cNvSpPr txBox="1"/>
          <p:nvPr/>
        </p:nvSpPr>
        <p:spPr>
          <a:xfrm>
            <a:off x="6400800" y="2409676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altLang="zh-CN" sz="1200" dirty="0"/>
              <a:t>Blockchain certificate = legally acceptable authorization proof</a:t>
            </a:r>
          </a:p>
          <a:p>
            <a:pPr algn="l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49" name="TextBox 14">
            <a:extLst>
              <a:ext uri="{FF2B5EF4-FFF2-40B4-BE49-F238E27FC236}">
                <a16:creationId xmlns:a16="http://schemas.microsoft.com/office/drawing/2014/main" id="{8EB192AA-934C-4CEF-1DE2-EBE74C24A239}"/>
              </a:ext>
            </a:extLst>
          </p:cNvPr>
          <p:cNvSpPr txBox="1"/>
          <p:nvPr/>
        </p:nvSpPr>
        <p:spPr>
          <a:xfrm>
            <a:off x="6400800" y="2769404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altLang="zh-CN" sz="1200" dirty="0"/>
              <a:t>Platform signature data package = verifiable by </a:t>
            </a:r>
            <a:r>
              <a:rPr lang="en-US" altLang="zh-CN" sz="1200" dirty="0" err="1"/>
              <a:t>LibTV</a:t>
            </a:r>
            <a:r>
              <a:rPr lang="en-US" altLang="zh-CN" sz="1200" dirty="0"/>
              <a:t>/Runway/</a:t>
            </a:r>
            <a:r>
              <a:rPr lang="en-US" altLang="zh-CN" sz="1200" dirty="0">
                <a:solidFill>
                  <a:srgbClr val="1E3A5F"/>
                </a:solidFill>
              </a:rPr>
              <a:t> </a:t>
            </a:r>
            <a:r>
              <a:rPr lang="en-US" altLang="zh-CN" sz="1200" dirty="0"/>
              <a:t>Midjourney</a:t>
            </a:r>
          </a:p>
          <a:p>
            <a:endParaRPr lang="en-US" altLang="zh-CN" sz="1200" dirty="0"/>
          </a:p>
          <a:p>
            <a:pPr algn="l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80F04D71-9657-0292-0D29-327237B54BFC}"/>
              </a:ext>
            </a:extLst>
          </p:cNvPr>
          <p:cNvSpPr txBox="1"/>
          <p:nvPr/>
        </p:nvSpPr>
        <p:spPr>
          <a:xfrm>
            <a:off x="6400800" y="3149895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altLang="zh-CN" sz="1200" dirty="0"/>
              <a:t>1% service fee, lawyer review ensures contract compliance</a:t>
            </a:r>
          </a:p>
          <a:p>
            <a:pPr algn="l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B972CE56-07C9-1455-0E0B-24B76189AFDE}"/>
              </a:ext>
            </a:extLst>
          </p:cNvPr>
          <p:cNvSpPr txBox="1"/>
          <p:nvPr/>
        </p:nvSpPr>
        <p:spPr>
          <a:xfrm>
            <a:off x="6400800" y="3548661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2E"/>
                </a:solidFill>
              </a:rPr>
              <a:t>* </a:t>
            </a:r>
            <a:r>
              <a:rPr lang="en-US" altLang="zh-CN" sz="1200" dirty="0"/>
              <a:t>User registers -&gt; Generates authorization data package -&gt;</a:t>
            </a:r>
            <a:br>
              <a:rPr lang="en-US" altLang="zh-CN" sz="1200" dirty="0"/>
            </a:br>
            <a:r>
              <a:rPr lang="en-US" altLang="zh-CN" sz="1200" dirty="0"/>
              <a:t>   Third-party platform calls</a:t>
            </a:r>
          </a:p>
          <a:p>
            <a:pPr algn="l"/>
            <a:endParaRPr sz="1200" b="0" dirty="0">
              <a:solidFill>
                <a:srgbClr val="1A1A2E"/>
              </a:solidFill>
            </a:endParaRPr>
          </a:p>
        </p:txBody>
      </p:sp>
      <p:sp>
        <p:nvSpPr>
          <p:cNvPr id="52" name="TextBox 17">
            <a:extLst>
              <a:ext uri="{FF2B5EF4-FFF2-40B4-BE49-F238E27FC236}">
                <a16:creationId xmlns:a16="http://schemas.microsoft.com/office/drawing/2014/main" id="{21D283D9-E53E-2D76-4A73-AB1F2FD22797}"/>
              </a:ext>
            </a:extLst>
          </p:cNvPr>
          <p:cNvSpPr txBox="1"/>
          <p:nvPr/>
        </p:nvSpPr>
        <p:spPr>
          <a:xfrm>
            <a:off x="640080" y="429768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1E3A5F"/>
                </a:solidFill>
              </a:rPr>
              <a:t>Contract Template Types</a:t>
            </a:r>
            <a:endParaRPr sz="1600" b="1" dirty="0">
              <a:solidFill>
                <a:srgbClr val="1E3A5F"/>
              </a:solidFill>
            </a:endParaRPr>
          </a:p>
        </p:txBody>
      </p:sp>
      <p:sp>
        <p:nvSpPr>
          <p:cNvPr id="53" name="Rectangle 18">
            <a:extLst>
              <a:ext uri="{FF2B5EF4-FFF2-40B4-BE49-F238E27FC236}">
                <a16:creationId xmlns:a16="http://schemas.microsoft.com/office/drawing/2014/main" id="{C3CF03B6-ED52-8634-5327-ED0A2EB43BCF}"/>
              </a:ext>
            </a:extLst>
          </p:cNvPr>
          <p:cNvSpPr/>
          <p:nvPr/>
        </p:nvSpPr>
        <p:spPr>
          <a:xfrm>
            <a:off x="64008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9">
            <a:extLst>
              <a:ext uri="{FF2B5EF4-FFF2-40B4-BE49-F238E27FC236}">
                <a16:creationId xmlns:a16="http://schemas.microsoft.com/office/drawing/2014/main" id="{30F23210-CF04-7C43-6786-736B66E1A964}"/>
              </a:ext>
            </a:extLst>
          </p:cNvPr>
          <p:cNvSpPr txBox="1"/>
          <p:nvPr/>
        </p:nvSpPr>
        <p:spPr>
          <a:xfrm>
            <a:off x="731519" y="48006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1E3A5F"/>
                </a:solidFill>
              </a:rPr>
              <a:t>Standard License</a:t>
            </a:r>
            <a:endParaRPr sz="1400" b="1" dirty="0">
              <a:solidFill>
                <a:srgbClr val="1E3A5F"/>
              </a:solidFill>
            </a:endParaRPr>
          </a:p>
        </p:txBody>
      </p:sp>
      <p:sp>
        <p:nvSpPr>
          <p:cNvPr id="55" name="TextBox 20">
            <a:extLst>
              <a:ext uri="{FF2B5EF4-FFF2-40B4-BE49-F238E27FC236}">
                <a16:creationId xmlns:a16="http://schemas.microsoft.com/office/drawing/2014/main" id="{A3DD022C-544A-9929-44F3-60364BC49BAB}"/>
              </a:ext>
            </a:extLst>
          </p:cNvPr>
          <p:cNvSpPr txBox="1"/>
          <p:nvPr/>
        </p:nvSpPr>
        <p:spPr>
          <a:xfrm>
            <a:off x="731519" y="516636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1A1A2E"/>
                </a:solidFill>
              </a:rPr>
              <a:t>Social media/Ads/Products</a:t>
            </a:r>
            <a:endParaRPr sz="1100" b="0" dirty="0">
              <a:solidFill>
                <a:srgbClr val="1A1A2E"/>
              </a:solidFill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89C0A473-CF08-16D6-94F5-69F7F5265DE0}"/>
              </a:ext>
            </a:extLst>
          </p:cNvPr>
          <p:cNvSpPr txBox="1"/>
          <p:nvPr/>
        </p:nvSpPr>
        <p:spPr>
          <a:xfrm>
            <a:off x="731519" y="553212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2D5A87"/>
                </a:solidFill>
              </a:rPr>
              <a:t>12</a:t>
            </a:r>
            <a:r>
              <a:rPr lang="en-US" altLang="zh-CN" sz="1100" b="1" dirty="0">
                <a:solidFill>
                  <a:srgbClr val="2D5A87"/>
                </a:solidFill>
              </a:rPr>
              <a:t> Months</a:t>
            </a:r>
            <a:endParaRPr sz="1100" b="1" dirty="0">
              <a:solidFill>
                <a:srgbClr val="2D5A87"/>
              </a:solidFill>
            </a:endParaRPr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68C7204-DE56-6E33-3674-AFAB475801E9}"/>
              </a:ext>
            </a:extLst>
          </p:cNvPr>
          <p:cNvSpPr/>
          <p:nvPr/>
        </p:nvSpPr>
        <p:spPr>
          <a:xfrm>
            <a:off x="347472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7CB2F415-D9D1-150F-B565-97BBD316A295}"/>
              </a:ext>
            </a:extLst>
          </p:cNvPr>
          <p:cNvSpPr txBox="1"/>
          <p:nvPr/>
        </p:nvSpPr>
        <p:spPr>
          <a:xfrm>
            <a:off x="3566160" y="48006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1E3A5F"/>
                </a:solidFill>
              </a:rPr>
              <a:t>Exclusive License </a:t>
            </a:r>
            <a:endParaRPr sz="1400" b="1" dirty="0">
              <a:solidFill>
                <a:srgbClr val="1E3A5F"/>
              </a:solidFill>
            </a:endParaRPr>
          </a:p>
        </p:txBody>
      </p:sp>
      <p:sp>
        <p:nvSpPr>
          <p:cNvPr id="59" name="TextBox 24">
            <a:extLst>
              <a:ext uri="{FF2B5EF4-FFF2-40B4-BE49-F238E27FC236}">
                <a16:creationId xmlns:a16="http://schemas.microsoft.com/office/drawing/2014/main" id="{E4903649-472F-0F86-9D17-B4A36D75DD20}"/>
              </a:ext>
            </a:extLst>
          </p:cNvPr>
          <p:cNvSpPr txBox="1"/>
          <p:nvPr/>
        </p:nvSpPr>
        <p:spPr>
          <a:xfrm>
            <a:off x="3566160" y="516636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1A1A2E"/>
                </a:solidFill>
              </a:rPr>
              <a:t>All uses incl. film/gaming/broadcast </a:t>
            </a:r>
            <a:endParaRPr sz="1100" b="0" dirty="0">
              <a:solidFill>
                <a:srgbClr val="1A1A2E"/>
              </a:solidFill>
            </a:endParaRPr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id="{DAE03C47-79DB-0359-74BD-EB3D7B7B0CBF}"/>
              </a:ext>
            </a:extLst>
          </p:cNvPr>
          <p:cNvSpPr txBox="1"/>
          <p:nvPr/>
        </p:nvSpPr>
        <p:spPr>
          <a:xfrm>
            <a:off x="3566160" y="553212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2D5A87"/>
                </a:solidFill>
              </a:rPr>
              <a:t>24</a:t>
            </a:r>
            <a:r>
              <a:rPr lang="en-US" altLang="zh-CN" sz="1100" b="1" dirty="0">
                <a:solidFill>
                  <a:srgbClr val="2D5A87"/>
                </a:solidFill>
              </a:rPr>
              <a:t> Months</a:t>
            </a:r>
            <a:endParaRPr sz="1100" b="1" dirty="0">
              <a:solidFill>
                <a:srgbClr val="2D5A87"/>
              </a:solidFill>
            </a:endParaRPr>
          </a:p>
        </p:txBody>
      </p:sp>
      <p:sp>
        <p:nvSpPr>
          <p:cNvPr id="61" name="Rectangle 26">
            <a:extLst>
              <a:ext uri="{FF2B5EF4-FFF2-40B4-BE49-F238E27FC236}">
                <a16:creationId xmlns:a16="http://schemas.microsoft.com/office/drawing/2014/main" id="{9D197583-C81D-2B89-4BF7-D659638E7B8B}"/>
              </a:ext>
            </a:extLst>
          </p:cNvPr>
          <p:cNvSpPr/>
          <p:nvPr/>
        </p:nvSpPr>
        <p:spPr>
          <a:xfrm>
            <a:off x="630936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7">
            <a:extLst>
              <a:ext uri="{FF2B5EF4-FFF2-40B4-BE49-F238E27FC236}">
                <a16:creationId xmlns:a16="http://schemas.microsoft.com/office/drawing/2014/main" id="{2BD97290-3D59-613D-E242-C058D649EF52}"/>
              </a:ext>
            </a:extLst>
          </p:cNvPr>
          <p:cNvSpPr txBox="1"/>
          <p:nvPr/>
        </p:nvSpPr>
        <p:spPr>
          <a:xfrm>
            <a:off x="6400800" y="48006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1E3A5F"/>
                </a:solidFill>
              </a:rPr>
              <a:t>Endorsement License </a:t>
            </a:r>
            <a:endParaRPr sz="1400" b="1" dirty="0">
              <a:solidFill>
                <a:srgbClr val="1E3A5F"/>
              </a:solidFill>
            </a:endParaRPr>
          </a:p>
        </p:txBody>
      </p:sp>
      <p:sp>
        <p:nvSpPr>
          <p:cNvPr id="63" name="TextBox 28">
            <a:extLst>
              <a:ext uri="{FF2B5EF4-FFF2-40B4-BE49-F238E27FC236}">
                <a16:creationId xmlns:a16="http://schemas.microsoft.com/office/drawing/2014/main" id="{61C5A85E-F2F5-47EB-1C34-1D3FAFBE49A9}"/>
              </a:ext>
            </a:extLst>
          </p:cNvPr>
          <p:cNvSpPr txBox="1"/>
          <p:nvPr/>
        </p:nvSpPr>
        <p:spPr>
          <a:xfrm>
            <a:off x="6400800" y="5166360"/>
            <a:ext cx="30585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1A1A2E"/>
                </a:solidFill>
              </a:rPr>
              <a:t>Brand endorsement</a:t>
            </a:r>
            <a:br>
              <a:rPr lang="en-US" sz="1100" b="0" dirty="0">
                <a:solidFill>
                  <a:srgbClr val="1A1A2E"/>
                </a:solidFill>
              </a:rPr>
            </a:br>
            <a:r>
              <a:rPr lang="en-US" sz="1100" b="0" dirty="0">
                <a:solidFill>
                  <a:srgbClr val="1A1A2E"/>
                </a:solidFill>
              </a:rPr>
              <a:t>/Ad filming/Promotional activities</a:t>
            </a:r>
            <a:endParaRPr sz="1100" b="0" dirty="0">
              <a:solidFill>
                <a:srgbClr val="1A1A2E"/>
              </a:solidFill>
            </a:endParaRPr>
          </a:p>
        </p:txBody>
      </p:sp>
      <p:sp>
        <p:nvSpPr>
          <p:cNvPr id="64" name="TextBox 29">
            <a:extLst>
              <a:ext uri="{FF2B5EF4-FFF2-40B4-BE49-F238E27FC236}">
                <a16:creationId xmlns:a16="http://schemas.microsoft.com/office/drawing/2014/main" id="{E5599C8B-C640-4365-85F8-4FA20C61546F}"/>
              </a:ext>
            </a:extLst>
          </p:cNvPr>
          <p:cNvSpPr txBox="1"/>
          <p:nvPr/>
        </p:nvSpPr>
        <p:spPr>
          <a:xfrm>
            <a:off x="6400800" y="553212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2D5A87"/>
                </a:solidFill>
              </a:rPr>
              <a:t>12</a:t>
            </a:r>
            <a:r>
              <a:rPr lang="en-US" altLang="zh-CN" sz="1100" b="1" dirty="0">
                <a:solidFill>
                  <a:srgbClr val="2D5A87"/>
                </a:solidFill>
              </a:rPr>
              <a:t> Months</a:t>
            </a:r>
            <a:endParaRPr sz="1100" b="1" dirty="0">
              <a:solidFill>
                <a:srgbClr val="2D5A87"/>
              </a:solidFill>
            </a:endParaRPr>
          </a:p>
        </p:txBody>
      </p:sp>
      <p:sp>
        <p:nvSpPr>
          <p:cNvPr id="65" name="Rectangle 30">
            <a:extLst>
              <a:ext uri="{FF2B5EF4-FFF2-40B4-BE49-F238E27FC236}">
                <a16:creationId xmlns:a16="http://schemas.microsoft.com/office/drawing/2014/main" id="{EB400261-8164-9881-94DD-AB58B42B60BD}"/>
              </a:ext>
            </a:extLst>
          </p:cNvPr>
          <p:cNvSpPr/>
          <p:nvPr/>
        </p:nvSpPr>
        <p:spPr>
          <a:xfrm>
            <a:off x="914400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31">
            <a:extLst>
              <a:ext uri="{FF2B5EF4-FFF2-40B4-BE49-F238E27FC236}">
                <a16:creationId xmlns:a16="http://schemas.microsoft.com/office/drawing/2014/main" id="{0B8226E0-98F3-FDBC-79F5-C187E18DC886}"/>
              </a:ext>
            </a:extLst>
          </p:cNvPr>
          <p:cNvSpPr txBox="1"/>
          <p:nvPr/>
        </p:nvSpPr>
        <p:spPr>
          <a:xfrm>
            <a:off x="9235440" y="48006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1E3A5F"/>
                </a:solidFill>
              </a:rPr>
              <a:t>Film Adaptation</a:t>
            </a:r>
            <a:endParaRPr sz="1400" b="1" dirty="0">
              <a:solidFill>
                <a:srgbClr val="1E3A5F"/>
              </a:solidFill>
            </a:endParaRPr>
          </a:p>
        </p:txBody>
      </p:sp>
      <p:sp>
        <p:nvSpPr>
          <p:cNvPr id="67" name="TextBox 32">
            <a:extLst>
              <a:ext uri="{FF2B5EF4-FFF2-40B4-BE49-F238E27FC236}">
                <a16:creationId xmlns:a16="http://schemas.microsoft.com/office/drawing/2014/main" id="{5AD0EA06-33BC-21BC-5A73-C8627BE7800E}"/>
              </a:ext>
            </a:extLst>
          </p:cNvPr>
          <p:cNvSpPr txBox="1"/>
          <p:nvPr/>
        </p:nvSpPr>
        <p:spPr>
          <a:xfrm>
            <a:off x="9235440" y="516636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dirty="0">
                <a:solidFill>
                  <a:srgbClr val="1A1A2E"/>
                </a:solidFill>
              </a:rPr>
              <a:t>Film/TV/Web series </a:t>
            </a:r>
            <a:r>
              <a:rPr lang="en-US" sz="1100" b="0" dirty="0" err="1">
                <a:solidFill>
                  <a:srgbClr val="1A1A2E"/>
                </a:solidFill>
              </a:rPr>
              <a:t>exclusiv</a:t>
            </a:r>
            <a:endParaRPr sz="1100" b="0" dirty="0">
              <a:solidFill>
                <a:srgbClr val="1A1A2E"/>
              </a:solidFill>
            </a:endParaRPr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59733BB9-6735-B8EF-25C1-0B7D1AB4F459}"/>
              </a:ext>
            </a:extLst>
          </p:cNvPr>
          <p:cNvSpPr txBox="1"/>
          <p:nvPr/>
        </p:nvSpPr>
        <p:spPr>
          <a:xfrm>
            <a:off x="9235440" y="553212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2D5A87"/>
                </a:solidFill>
              </a:rPr>
              <a:t>36</a:t>
            </a:r>
            <a:r>
              <a:rPr lang="en-US" sz="1100" b="1" dirty="0">
                <a:solidFill>
                  <a:srgbClr val="2D5A87"/>
                </a:solidFill>
              </a:rPr>
              <a:t> </a:t>
            </a:r>
            <a:r>
              <a:rPr lang="en-US" altLang="zh-CN" sz="1100" b="1" dirty="0">
                <a:solidFill>
                  <a:srgbClr val="2D5A87"/>
                </a:solidFill>
              </a:rPr>
              <a:t>M</a:t>
            </a:r>
            <a:r>
              <a:rPr lang="en-US" sz="1100" b="1" dirty="0">
                <a:solidFill>
                  <a:srgbClr val="2D5A87"/>
                </a:solidFill>
              </a:rPr>
              <a:t>onths</a:t>
            </a:r>
            <a:endParaRPr sz="1100" b="1" dirty="0">
              <a:solidFill>
                <a:srgbClr val="2D5A8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Celebrity Partnership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Attract celebrities with Digital Avatar Licensing, attract ordinary users with celebrity endorsement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868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Top celebrities
onboard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868680" cy="9144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Media
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868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Ordinary users
flood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868680" cy="9144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Platform
value+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920240"/>
            <a:ext cx="868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More celebrities
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920240"/>
            <a:ext cx="868680" cy="9144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Production companies
proactively partner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10972800" cy="13716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</a:rPr>
              <a:t>New Digital Avatar Licensing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Celebrity portrait authorization -&gt; Platform generates signature data package -&gt; LibTV/Runway/HeyGen calls -&gt; Production company uses compliantly -&gt; Platform auto-distributes 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5029200" cy="6400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[OK] Sepolia testnet running stably, Base mainnet 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03520"/>
            <a:ext cx="5669280" cy="6400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5394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[OK] 128-dim face vector storage + SHA-256 hash implemented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Revenue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Free onboarding -&gt; 1% from digital avatar contracts -&gt; Law firm partnership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97480" cy="3657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Registration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592" y="3424270"/>
            <a:ext cx="2880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</a:rPr>
              <a:t>Personal/lawyer firm zero-cost onboarding
Platform profits from scale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5544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39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Digital Avatar Licensing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484180"/>
            <a:ext cx="248412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</a:rPr>
              <a:t>Platform earns 1% per contract
Production companies/brands pay
Auto profit sharing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2697480" cy="3657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Personal Certification Annual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01034"/>
            <a:ext cx="251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dirty="0">
                <a:solidFill>
                  <a:srgbClr val="666666"/>
                </a:solidFill>
              </a:rPr>
              <a:t>$199 </a:t>
            </a:r>
            <a:r>
              <a:rPr sz="1100" b="0" dirty="0">
                <a:solidFill>
                  <a:srgbClr val="666666"/>
                </a:solidFill>
              </a:rPr>
              <a:t>/year (adjusted to 
Currently free to expand users)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59" y="15544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59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Law Firm Partnership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6810" y="3474721"/>
            <a:ext cx="32713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</a:rPr>
              <a:t>Platform earns 5% after law firm takes case
User starts at zero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088" y="5544012"/>
            <a:ext cx="1209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Core insight: 1% commission on digital avatar contracts is highly competitive - production company pays , platform takes ,</a:t>
            </a:r>
            <a:br>
              <a:rPr lang="en-US" sz="1400" b="0" dirty="0">
                <a:solidFill>
                  <a:srgbClr val="FFFFFF"/>
                </a:solidFill>
              </a:rPr>
            </a:br>
            <a:r>
              <a:rPr sz="1400" b="0" dirty="0">
                <a:solidFill>
                  <a:srgbClr val="FFFFFF"/>
                </a:solidFill>
              </a:rPr>
              <a:t> but provides complete legal protection.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347472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0" y="1920240"/>
            <a:ext cx="1097280" cy="109728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Name: TBD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Product/Operations/Business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45920"/>
            <a:ext cx="347472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920240"/>
            <a:ext cx="1097280" cy="109728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Law Firm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Name: TBD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Full legal endorsement
Contract template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645920"/>
            <a:ext cx="347472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920240"/>
            <a:ext cx="1097280" cy="109728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Technical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Name: TBD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AI algorithms/Blockchain/Frontend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1014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strike="sngStrike" dirty="0" err="1">
                <a:solidFill>
                  <a:srgbClr val="D48A00"/>
                </a:solidFill>
              </a:rPr>
              <a:t>Funding: Angel Round</a:t>
            </a:r>
            <a:r>
              <a:rPr sz="1300" b="0" strike="sngStrike" dirty="0">
                <a:solidFill>
                  <a:srgbClr val="D48A00"/>
                </a:solidFill>
              </a:rPr>
              <a:t>  (Law firm partnership + Celebrity BD) </a:t>
            </a:r>
            <a:r>
              <a:rPr sz="1300" b="0" strike="sngStrike" dirty="0" err="1">
                <a:solidFill>
                  <a:srgbClr val="D48A00"/>
                </a:solidFill>
              </a:rPr>
              <a:t>Series A</a:t>
            </a:r>
            <a:r>
              <a:rPr sz="1300" b="0" strike="sngStrike" dirty="0">
                <a:solidFill>
                  <a:srgbClr val="D48A00"/>
                </a:solidFill>
              </a:rPr>
              <a:t>  (Mainnet launch + Team expansion + Operations)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Development Path to 50K Paying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Beta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Stable product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Sepolia testnet + Base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Lawyer onboarding + dashboard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Digital avatar contract system 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Within 30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Sign Law Firms + Celebrities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Sign 3-5 law firm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Sign first celebrities/talent agencies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Digital avatar contract templates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LibTV/Runway partnership negotiations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Within 90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Launch Base Mainnet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Start charging, 1% contract 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Law firm dashboard officially operational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Digital Avatar Licensing API 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1,000 paying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12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50K Paying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$20M platform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Top agencies onboard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LibTV/Runway partnerships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Become Digital Avatar Licensing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FAQ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88136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Does on-chain certificate have legal validity?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Yes. IPFS hash + timestamp + 128-dim face vector = notarial effect. Law firm verified it as litigation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How to verify digital avatar licensing contract authenticity?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53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Each contract has PortraitPay platform signature + blockchain hash. LibTV/Runway can verify signature via public key to confirm authorization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Why should production companies use our contracts?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Building your own contract + lawyer fees start at . Using our template + blockchain certificate costs +, with law firm endorsement.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Is 1% commission enough to operate?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566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Digital avatar licensing contracts are usually large (-). 1% is enough to cover operating costs.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669279"/>
            <a:ext cx="1088136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74243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Why not build your own infringement monitoring?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081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High cost, poor effect, high legal risk. Law firm model is lighter, more effective, and more trustworthy.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PortraitPay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5A623"/>
                </a:solidFill>
              </a:rPr>
              <a:t>Your Face. Your Rights.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Digital Avatar Licensing  |  Blockchain Evidence  |  Direct Law Firm  |  1% Easy Profit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</a:rPr>
              <a:t>This document is valid for 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99AA"/>
                </a:solidFill>
              </a:rPr>
              <a:t>2026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E894B57-8E58-D88B-3FB1-238082FE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566" y="569577"/>
            <a:ext cx="1654191" cy="14186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1366</Words>
  <Application>Microsoft Office PowerPoint</Application>
  <PresentationFormat>宽屏</PresentationFormat>
  <Paragraphs>226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帝 杭</cp:lastModifiedBy>
  <cp:revision>15</cp:revision>
  <dcterms:created xsi:type="dcterms:W3CDTF">2013-01-27T09:14:16Z</dcterms:created>
  <dcterms:modified xsi:type="dcterms:W3CDTF">2026-04-26T02:37:19Z</dcterms:modified>
  <cp:category/>
</cp:coreProperties>
</file>