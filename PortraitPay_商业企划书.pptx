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7" r:id="rId12"/>
    <p:sldId id="268" r:id="rId13"/>
    <p:sldId id="269" r:id="rId14"/>
    <p:sldId id="265" r:id="rId1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49" d="100"/>
          <a:sy n="149" d="100"/>
        </p:scale>
        <p:origin x="644" y="8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microsoft.com/office/2007/relationships/hdphoto" Target="../media/hdphoto2.wdp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>
            <a:spLocks/>
          </p:cNvSpPr>
          <p:nvPr/>
        </p:nvSpPr>
        <p:spPr>
          <a:xfrm>
            <a:off x="-64093" y="-76912"/>
            <a:ext cx="12301672" cy="6934912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dirty="0"/>
          </a:p>
        </p:txBody>
      </p:sp>
      <p:pic>
        <p:nvPicPr>
          <p:cNvPr id="12" name="图片 11">
            <a:extLst>
              <a:ext uri="{FF2B5EF4-FFF2-40B4-BE49-F238E27FC236}">
                <a16:creationId xmlns:a16="http://schemas.microsoft.com/office/drawing/2014/main" id="{FF418804-3DB8-1E05-206A-3443FD6A3EDB}"/>
              </a:ext>
            </a:extLst>
          </p:cNvPr>
          <p:cNvPicPr>
            <a:picLocks noChangeAspect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2771" r="2912"/>
          <a:stretch>
            <a:fillRect/>
          </a:stretch>
        </p:blipFill>
        <p:spPr>
          <a:xfrm>
            <a:off x="-64093" y="-153824"/>
            <a:ext cx="12301672" cy="7144284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731520" y="2712748"/>
            <a:ext cx="106984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rPr dirty="0" err="1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PortraitPay</a:t>
            </a:r>
            <a:r>
              <a:rPr dirty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3969313"/>
            <a:ext cx="106984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6366F1"/>
                </a:solidFill>
              </a:defRPr>
            </a:pPr>
            <a:r>
              <a:rPr dirty="0" err="1"/>
              <a:t>商业企划书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731520" y="4979259"/>
            <a:ext cx="10698480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BBF24"/>
                </a:solidFill>
              </a:defRPr>
            </a:pPr>
            <a:r>
              <a:rPr dirty="0" err="1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你的肖像</a:t>
            </a:r>
            <a:r>
              <a:rPr lang="en-US" dirty="0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 </a:t>
            </a:r>
          </a:p>
          <a:p>
            <a:pPr algn="ctr">
              <a:defRPr sz="2400" b="0">
                <a:solidFill>
                  <a:srgbClr val="FBBF24"/>
                </a:solidFill>
              </a:defRPr>
            </a:pPr>
            <a:r>
              <a:rPr dirty="0" err="1"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你的权利</a:t>
            </a:r>
            <a:endParaRPr dirty="0">
              <a:latin typeface="思源黑体 CN Bold" panose="020B0800000000000000" pitchFamily="34" charset="-122"/>
              <a:ea typeface="思源黑体 CN Bold" panose="020B0800000000000000" pitchFamily="34" charset="-122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31520" y="621792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t>2026</a:t>
            </a:r>
          </a:p>
        </p:txBody>
      </p:sp>
      <p:pic>
        <p:nvPicPr>
          <p:cNvPr id="9" name="图片 8">
            <a:extLst>
              <a:ext uri="{FF2B5EF4-FFF2-40B4-BE49-F238E27FC236}">
                <a16:creationId xmlns:a16="http://schemas.microsoft.com/office/drawing/2014/main" id="{84791F80-5E27-5824-98A2-089A5F8F97A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18267" y="1151320"/>
            <a:ext cx="1755160" cy="1505192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>
            <a:extLst>
              <a:ext uri="{FF2B5EF4-FFF2-40B4-BE49-F238E27FC236}">
                <a16:creationId xmlns:a16="http://schemas.microsoft.com/office/drawing/2014/main" id="{2A1E50A6-7FD8-7316-9B8C-97942ACC8D2D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41348" y="-60960"/>
            <a:ext cx="13158758" cy="691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378823" y="54864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我们解决什么问题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640080" y="1584525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</a:defRPr>
            </a:pPr>
            <a:r>
              <a:rPr dirty="0" err="1"/>
              <a:t>肖像权侵权已经失控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640080" y="2200656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FBBF24"/>
                </a:solidFill>
              </a:defRPr>
            </a:pPr>
            <a:r>
              <a:rPr dirty="0" err="1"/>
              <a:t>好莱坞在行动</a:t>
            </a:r>
            <a:endParaRPr dirty="0"/>
          </a:p>
        </p:txBody>
      </p:sp>
      <p:sp>
        <p:nvSpPr>
          <p:cNvPr id="7" name="Rounded Rectangle 6"/>
          <p:cNvSpPr/>
          <p:nvPr/>
        </p:nvSpPr>
        <p:spPr>
          <a:xfrm>
            <a:off x="457200" y="3154680"/>
            <a:ext cx="36576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640080" y="324612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</a:defRPr>
            </a:pPr>
            <a:r>
              <a:t>斯嘉丽·约翰逊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356616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起诉OpenAI：Sky语音与她极其相似</a:t>
            </a:r>
            <a:br/>
            <a:r>
              <a:t>曾拒绝配音仍被无授权使用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" y="4160520"/>
            <a:ext cx="36576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" y="425196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</a:defRPr>
            </a:pPr>
            <a:r>
              <a:t>SAG-AFTRA 演员公会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57200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2024年发起大罢工</a:t>
            </a:r>
            <a:br/>
            <a:r>
              <a:t>核心诉求：AI不得滥用演员肖像声音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457200" y="5166360"/>
            <a:ext cx="3657600" cy="91440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640080" y="5257800"/>
            <a:ext cx="32918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1">
                <a:solidFill>
                  <a:srgbClr val="A855F7"/>
                </a:solidFill>
              </a:defRPr>
            </a:pPr>
            <a:r>
              <a:t>多家影视公司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0080" y="5577840"/>
            <a:ext cx="3291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00" b="0">
                <a:solidFill>
                  <a:srgbClr val="94A3B8"/>
                </a:solidFill>
              </a:defRPr>
            </a:pPr>
            <a:r>
              <a:t>起诉Runway、Midjourney等</a:t>
            </a:r>
            <a:br/>
            <a:r>
              <a:t>AI训练使用版权影视作品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89120" y="182880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38912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</a:defRPr>
            </a:pPr>
            <a:r>
              <a:t>340%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89120" y="2514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2024年AI生成侵权</a:t>
            </a:r>
            <a:br/>
            <a:r>
              <a:t>案件同比增长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949440" y="182880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949440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</a:defRPr>
            </a:pPr>
            <a:r>
              <a:t>¥500万+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49440" y="2514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2025年某顶流明星</a:t>
            </a:r>
            <a:br/>
            <a:r>
              <a:t>AI换脸诈骗单案损失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9509759" y="1828800"/>
            <a:ext cx="2377440" cy="14630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9509759" y="1965960"/>
            <a:ext cx="23774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</a:defRPr>
            </a:pPr>
            <a:r>
              <a:t>30%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509759" y="2514600"/>
            <a:ext cx="23774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0">
                <a:solidFill>
                  <a:srgbClr val="94A3B8"/>
                </a:solidFill>
              </a:defRPr>
            </a:pPr>
            <a:r>
              <a:t>2026年预计每10个网红</a:t>
            </a:r>
            <a:br/>
            <a:r>
              <a:t>就有3个遭遇肖像盗用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523979" y="4133677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 err="1"/>
              <a:t>没人管、管不了、成本高</a:t>
            </a:r>
            <a:endParaRPr dirty="0"/>
          </a:p>
        </p:txBody>
      </p:sp>
      <p:sp>
        <p:nvSpPr>
          <p:cNvPr id="26" name="TextBox 25"/>
          <p:cNvSpPr txBox="1"/>
          <p:nvPr/>
        </p:nvSpPr>
        <p:spPr>
          <a:xfrm>
            <a:off x="4430000" y="4910917"/>
            <a:ext cx="7315200" cy="113877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平台不作为：抖音</a:t>
            </a:r>
            <a:r>
              <a:rPr dirty="0"/>
              <a:t>/</a:t>
            </a:r>
            <a:r>
              <a:rPr dirty="0" err="1"/>
              <a:t>小红书靠举报，效率极低</a:t>
            </a:r>
            <a:endParaRPr dirty="0"/>
          </a:p>
          <a:p>
            <a:pPr algn="ctr"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个人维权成本高：请律师</a:t>
            </a:r>
            <a:r>
              <a:rPr dirty="0"/>
              <a:t> ¥5万起步</a:t>
            </a:r>
          </a:p>
          <a:p>
            <a:pPr algn="ctr">
              <a:spcAft>
                <a:spcPts val="1200"/>
              </a:spcAft>
              <a:defRPr sz="1600">
                <a:solidFill>
                  <a:srgbClr val="FFFFFF"/>
                </a:solidFill>
              </a:defRPr>
            </a:pPr>
            <a:r>
              <a:rPr dirty="0"/>
              <a:t>• </a:t>
            </a:r>
            <a:r>
              <a:rPr dirty="0" err="1"/>
              <a:t>证据固定不规范：截图在法庭上证据力弱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4" name="图片 23">
            <a:extLst>
              <a:ext uri="{FF2B5EF4-FFF2-40B4-BE49-F238E27FC236}">
                <a16:creationId xmlns:a16="http://schemas.microsoft.com/office/drawing/2014/main" id="{D48EBB1E-258A-5080-E1AF-B83F23483C21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41348" y="-60960"/>
            <a:ext cx="13158758" cy="6918960"/>
          </a:xfrm>
          <a:prstGeom prst="rect">
            <a:avLst/>
          </a:prstGeom>
        </p:spPr>
      </p:pic>
      <p:sp>
        <p:nvSpPr>
          <p:cNvPr id="4" name="TextBox 3"/>
          <p:cNvSpPr txBox="1">
            <a:spLocks noGrp="1" noRot="1" noMove="1" noResize="1" noEditPoints="1" noAdjustHandles="1" noChangeArrowheads="1" noChangeShapeType="1"/>
          </p:cNvSpPr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PortraitPay</a:t>
            </a:r>
            <a:r>
              <a:rPr lang="en-US" dirty="0"/>
              <a:t> </a:t>
            </a:r>
            <a:r>
              <a:rPr lang="en-US" altLang="zh-CN" dirty="0"/>
              <a:t>Ai</a:t>
            </a:r>
            <a:r>
              <a:rPr dirty="0"/>
              <a:t> </a:t>
            </a:r>
            <a:r>
              <a:rPr dirty="0" err="1"/>
              <a:t>是什么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2512465" y="2017068"/>
            <a:ext cx="6910978" cy="818166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430382" y="2108508"/>
            <a:ext cx="91440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200" b="1">
                <a:solidFill>
                  <a:srgbClr val="FFFFFF"/>
                </a:solidFill>
              </a:defRPr>
            </a:pPr>
            <a:r>
              <a:t>一个肖像权保护与交易的区块链平台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0882" y="3435905"/>
            <a:ext cx="109728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rPr dirty="0" err="1">
                <a:solidFill>
                  <a:schemeClr val="bg1"/>
                </a:solidFill>
              </a:rPr>
              <a:t>简单说</a:t>
            </a:r>
            <a:r>
              <a:rPr dirty="0">
                <a:solidFill>
                  <a:schemeClr val="bg1"/>
                </a:solidFill>
              </a:rPr>
              <a:t>：</a:t>
            </a:r>
          </a:p>
        </p:txBody>
      </p:sp>
      <p:sp>
        <p:nvSpPr>
          <p:cNvPr id="8" name="Oval 7"/>
          <p:cNvSpPr/>
          <p:nvPr/>
        </p:nvSpPr>
        <p:spPr>
          <a:xfrm>
            <a:off x="2016803" y="4212222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2016803" y="425794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rPr dirty="0"/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742483" y="485230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注册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96963" y="430366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2" name="Oval 11"/>
          <p:cNvSpPr/>
          <p:nvPr/>
        </p:nvSpPr>
        <p:spPr>
          <a:xfrm>
            <a:off x="4577123" y="4212222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577123" y="425794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2803" y="485230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获得证书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57282" y="430366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16" name="Oval 15"/>
          <p:cNvSpPr/>
          <p:nvPr/>
        </p:nvSpPr>
        <p:spPr>
          <a:xfrm>
            <a:off x="7137443" y="4212222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7137443" y="425794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863123" y="485230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有人侵权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417603" y="4303662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94A3B8"/>
                </a:solidFill>
              </a:defRPr>
            </a:pPr>
            <a:r>
              <a:t>→</a:t>
            </a:r>
          </a:p>
        </p:txBody>
      </p:sp>
      <p:sp>
        <p:nvSpPr>
          <p:cNvPr id="20" name="Oval 19"/>
          <p:cNvSpPr/>
          <p:nvPr/>
        </p:nvSpPr>
        <p:spPr>
          <a:xfrm>
            <a:off x="9697762" y="4212222"/>
            <a:ext cx="548640" cy="54864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TextBox 20"/>
          <p:cNvSpPr txBox="1"/>
          <p:nvPr/>
        </p:nvSpPr>
        <p:spPr>
          <a:xfrm>
            <a:off x="9697762" y="4257942"/>
            <a:ext cx="548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0F172A"/>
                </a:solidFill>
              </a:defRPr>
            </a:pPr>
            <a: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423442" y="4852302"/>
            <a:ext cx="10972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0">
                <a:solidFill>
                  <a:srgbClr val="FFFFFF"/>
                </a:solidFill>
              </a:defRPr>
            </a:pPr>
            <a:r>
              <a:t>律师楼帮你打官司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23121" y="5722499"/>
            <a:ext cx="6100354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0">
                <a:solidFill>
                  <a:srgbClr val="22C55E"/>
                </a:solidFill>
              </a:defRPr>
            </a:pPr>
            <a:r>
              <a:rPr dirty="0">
                <a:solidFill>
                  <a:srgbClr val="FFC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+ </a:t>
            </a:r>
            <a:r>
              <a:rPr dirty="0" err="1">
                <a:solidFill>
                  <a:srgbClr val="FFC0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授权收入：AI创作者想用你的脸？在平台付费</a:t>
            </a:r>
            <a:r>
              <a:rPr dirty="0">
                <a:solidFill>
                  <a:srgbClr val="FFFF00"/>
                </a:solidFill>
                <a:latin typeface="思源黑体 CN Bold" panose="020B0800000000000000" pitchFamily="34" charset="-122"/>
                <a:ea typeface="思源黑体 CN Bold" panose="020B0800000000000000" pitchFamily="34" charset="-122"/>
              </a:rPr>
              <a:t>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3" name="图片 22">
            <a:extLst>
              <a:ext uri="{FF2B5EF4-FFF2-40B4-BE49-F238E27FC236}">
                <a16:creationId xmlns:a16="http://schemas.microsoft.com/office/drawing/2014/main" id="{AC97D24C-FC28-D3CC-45F0-770ADCA1FDD3}"/>
              </a:ext>
            </a:extLst>
          </p:cNvPr>
          <p:cNvPicPr/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0" y="-60960"/>
            <a:ext cx="12191695" cy="691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怎么运转</a:t>
            </a:r>
            <a:endParaRPr dirty="0"/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3BB99AC6-A3F3-B96F-D313-E19F92CDDE17}"/>
              </a:ext>
            </a:extLst>
          </p:cNvPr>
          <p:cNvGrpSpPr/>
          <p:nvPr/>
        </p:nvGrpSpPr>
        <p:grpSpPr>
          <a:xfrm>
            <a:off x="1804255" y="2170508"/>
            <a:ext cx="5668425" cy="2931207"/>
            <a:chOff x="2307175" y="2170508"/>
            <a:chExt cx="5668425" cy="2931207"/>
          </a:xfrm>
        </p:grpSpPr>
        <p:sp>
          <p:nvSpPr>
            <p:cNvPr id="5" name="TextBox 4"/>
            <p:cNvSpPr txBox="1"/>
            <p:nvPr/>
          </p:nvSpPr>
          <p:spPr>
            <a:xfrm>
              <a:off x="2307175" y="2170508"/>
              <a:ext cx="54864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400" b="1">
                  <a:solidFill>
                    <a:srgbClr val="A855F7"/>
                  </a:solidFill>
                </a:defRPr>
              </a:pPr>
              <a:r>
                <a:rPr dirty="0" err="1"/>
                <a:t>用户端（肖像所有者</a:t>
              </a:r>
              <a:r>
                <a:rPr dirty="0"/>
                <a:t>）</a:t>
              </a:r>
            </a:p>
          </p:txBody>
        </p:sp>
        <p:sp>
          <p:nvSpPr>
            <p:cNvPr id="6" name="Oval 5"/>
            <p:cNvSpPr/>
            <p:nvPr/>
          </p:nvSpPr>
          <p:spPr>
            <a:xfrm>
              <a:off x="2397760" y="2724275"/>
              <a:ext cx="365760" cy="36576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2397760" y="2769995"/>
              <a:ext cx="3657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t>1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2946400" y="2724275"/>
              <a:ext cx="5029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0">
                  <a:solidFill>
                    <a:srgbClr val="FFFFFF"/>
                  </a:solidFill>
                </a:defRPr>
              </a:pPr>
              <a:r>
                <a:t>上传照片</a:t>
              </a:r>
            </a:p>
          </p:txBody>
        </p:sp>
        <p:sp>
          <p:nvSpPr>
            <p:cNvPr id="9" name="Oval 8"/>
            <p:cNvSpPr/>
            <p:nvPr/>
          </p:nvSpPr>
          <p:spPr>
            <a:xfrm>
              <a:off x="2397760" y="3227195"/>
              <a:ext cx="365760" cy="36576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2397760" y="3272915"/>
              <a:ext cx="3657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t>2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2946400" y="3227195"/>
              <a:ext cx="5029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0">
                  <a:solidFill>
                    <a:srgbClr val="FFFFFF"/>
                  </a:solidFill>
                </a:defRPr>
              </a:pPr>
              <a:r>
                <a:t>KYC 认证（证明这是你的脸）</a:t>
              </a:r>
            </a:p>
          </p:txBody>
        </p:sp>
        <p:sp>
          <p:nvSpPr>
            <p:cNvPr id="12" name="Oval 11"/>
            <p:cNvSpPr/>
            <p:nvPr/>
          </p:nvSpPr>
          <p:spPr>
            <a:xfrm>
              <a:off x="2397760" y="3730115"/>
              <a:ext cx="365760" cy="36576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2397760" y="3775835"/>
              <a:ext cx="3657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t>3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2946400" y="3730115"/>
              <a:ext cx="5029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0">
                  <a:solidFill>
                    <a:srgbClr val="FFFFFF"/>
                  </a:solidFill>
                </a:defRPr>
              </a:pPr>
              <a:r>
                <a:t>链上存证（IPFS + Base链时间戳）</a:t>
              </a:r>
            </a:p>
          </p:txBody>
        </p:sp>
        <p:sp>
          <p:nvSpPr>
            <p:cNvPr id="15" name="Oval 14"/>
            <p:cNvSpPr/>
            <p:nvPr/>
          </p:nvSpPr>
          <p:spPr>
            <a:xfrm>
              <a:off x="2397760" y="4233035"/>
              <a:ext cx="365760" cy="36576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2397760" y="4278755"/>
              <a:ext cx="3657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t>4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2946400" y="4233035"/>
              <a:ext cx="5029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0">
                  <a:solidFill>
                    <a:srgbClr val="FFFFFF"/>
                  </a:solidFill>
                </a:defRPr>
              </a:pPr>
              <a:r>
                <a:t>获得数字证书（永久有效，律师楼背书）</a:t>
              </a:r>
            </a:p>
          </p:txBody>
        </p:sp>
        <p:sp>
          <p:nvSpPr>
            <p:cNvPr id="18" name="Oval 17"/>
            <p:cNvSpPr/>
            <p:nvPr/>
          </p:nvSpPr>
          <p:spPr>
            <a:xfrm>
              <a:off x="2397760" y="4735955"/>
              <a:ext cx="365760" cy="365760"/>
            </a:xfrm>
            <a:prstGeom prst="ellipse">
              <a:avLst/>
            </a:prstGeom>
            <a:solidFill>
              <a:srgbClr val="6366F1"/>
            </a:solidFill>
            <a:ln>
              <a:noFill/>
            </a:ln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2397760" y="4781675"/>
              <a:ext cx="365760" cy="27432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400" b="1">
                  <a:solidFill>
                    <a:srgbClr val="FFFFFF"/>
                  </a:solidFill>
                </a:defRPr>
              </a:pPr>
              <a:r>
                <a:t>5</a:t>
              </a:r>
            </a:p>
          </p:txBody>
        </p:sp>
        <p:sp>
          <p:nvSpPr>
            <p:cNvPr id="20" name="TextBox 19"/>
            <p:cNvSpPr txBox="1"/>
            <p:nvPr/>
          </p:nvSpPr>
          <p:spPr>
            <a:xfrm>
              <a:off x="2946400" y="4735955"/>
              <a:ext cx="5029200" cy="36576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1600" b="0">
                  <a:solidFill>
                    <a:srgbClr val="FFFFFF"/>
                  </a:solidFill>
                </a:defRPr>
              </a:pPr>
              <a:r>
                <a:t>有人侵权？联系律师楼，启动法律程序</a:t>
              </a:r>
            </a:p>
          </p:txBody>
        </p:sp>
      </p:grp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2ED61B19-7846-C3A3-668A-DE4CED57DD47}"/>
              </a:ext>
            </a:extLst>
          </p:cNvPr>
          <p:cNvGrpSpPr/>
          <p:nvPr/>
        </p:nvGrpSpPr>
        <p:grpSpPr>
          <a:xfrm>
            <a:off x="6974019" y="2304087"/>
            <a:ext cx="5534313" cy="1846215"/>
            <a:chOff x="7346230" y="2296881"/>
            <a:chExt cx="5534313" cy="1846215"/>
          </a:xfrm>
        </p:grpSpPr>
        <p:sp>
          <p:nvSpPr>
            <p:cNvPr id="21" name="TextBox 20"/>
            <p:cNvSpPr txBox="1"/>
            <p:nvPr/>
          </p:nvSpPr>
          <p:spPr>
            <a:xfrm>
              <a:off x="7346230" y="2296881"/>
              <a:ext cx="54864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l">
                <a:defRPr sz="2400" b="1">
                  <a:solidFill>
                    <a:srgbClr val="FBBF24"/>
                  </a:solidFill>
                </a:defRPr>
              </a:pPr>
              <a:r>
                <a:rPr dirty="0" err="1"/>
                <a:t>授权收入（模式B</a:t>
              </a:r>
              <a:r>
                <a:rPr dirty="0"/>
                <a:t>）</a:t>
              </a:r>
            </a:p>
          </p:txBody>
        </p:sp>
        <p:sp>
          <p:nvSpPr>
            <p:cNvPr id="22" name="TextBox 21"/>
            <p:cNvSpPr txBox="1"/>
            <p:nvPr/>
          </p:nvSpPr>
          <p:spPr>
            <a:xfrm>
              <a:off x="7394143" y="2771496"/>
              <a:ext cx="5486400" cy="13716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spcAft>
                  <a:spcPts val="1200"/>
                </a:spcAft>
                <a:defRPr sz="1400">
                  <a:solidFill>
                    <a:srgbClr val="94A3B8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AI创作者想用你的脸</a:t>
              </a:r>
              <a:r>
                <a:rPr dirty="0"/>
                <a:t> → </a:t>
              </a:r>
              <a:r>
                <a:rPr dirty="0" err="1"/>
                <a:t>在平台付费（你设定价格</a:t>
              </a:r>
              <a:r>
                <a:rPr dirty="0"/>
                <a:t>）</a:t>
              </a:r>
            </a:p>
            <a:p>
              <a:pPr>
                <a:spcAft>
                  <a:spcPts val="1200"/>
                </a:spcAft>
                <a:defRPr sz="1400">
                  <a:solidFill>
                    <a:srgbClr val="94A3B8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平台路由到你的</a:t>
              </a:r>
              <a:r>
                <a:rPr dirty="0"/>
                <a:t> API </a:t>
              </a:r>
              <a:r>
                <a:rPr dirty="0" err="1"/>
                <a:t>生成内容</a:t>
              </a:r>
              <a:endParaRPr dirty="0"/>
            </a:p>
            <a:p>
              <a:pPr>
                <a:spcAft>
                  <a:spcPts val="1200"/>
                </a:spcAft>
                <a:defRPr sz="1400">
                  <a:solidFill>
                    <a:srgbClr val="94A3B8"/>
                  </a:solidFill>
                </a:defRPr>
              </a:pPr>
              <a:r>
                <a:rPr dirty="0"/>
                <a:t>• </a:t>
              </a:r>
              <a:r>
                <a:rPr dirty="0" err="1"/>
                <a:t>你拿到分成，不消耗平台</a:t>
              </a:r>
              <a:r>
                <a:rPr dirty="0"/>
                <a:t> token</a:t>
              </a:r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99E7DA44-9B2E-E81F-6290-E587B10A179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41348" y="-60960"/>
            <a:ext cx="13158758" cy="691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2954230" y="457200"/>
            <a:ext cx="6283234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为什么现在是最好的时机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3246120" y="1849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rPr dirty="0"/>
              <a:t>AI视频爆发（2025-2026）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246120" y="2489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↓ 肖像侵权量暴涨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246120" y="312928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↓ 受害者无处维权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46120" y="37693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↓ 市场需求出现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46120" y="440944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↓ PortraitPay 已完成产品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46120" y="50495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0">
                <a:solidFill>
                  <a:srgbClr val="FFFFFF"/>
                </a:solidFill>
              </a:defRPr>
            </a:pPr>
            <a:r>
              <a:t>↓ 时间窗口只有 12-18 个月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0D3E5318-2ABC-A9B0-113D-5EC81C981649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  <a14:imgEffect>
                      <a14:brightnessContrast bright="-40000"/>
                    </a14:imgEffect>
                  </a14:imgLayer>
                </a14:imgProps>
              </a:ext>
            </a:extLst>
          </a:blip>
          <a:stretch>
            <a:fillRect/>
          </a:stretch>
        </p:blipFill>
        <p:spPr>
          <a:xfrm>
            <a:off x="-541348" y="-60960"/>
            <a:ext cx="13158758" cy="691896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市场有多大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0972800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94A3B8"/>
                </a:solidFill>
              </a:defRPr>
            </a:pPr>
            <a:r>
              <a:rPr dirty="0" err="1"/>
              <a:t>目标用户数量估算</a:t>
            </a:r>
            <a:endParaRPr dirty="0"/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27D20861-35A6-80FD-A9A5-26D818E22AE7}"/>
              </a:ext>
            </a:extLst>
          </p:cNvPr>
          <p:cNvGrpSpPr/>
          <p:nvPr/>
        </p:nvGrpSpPr>
        <p:grpSpPr>
          <a:xfrm>
            <a:off x="1008831" y="1778457"/>
            <a:ext cx="9144000" cy="2103120"/>
            <a:chOff x="1008831" y="1778457"/>
            <a:chExt cx="9144000" cy="2103120"/>
          </a:xfrm>
        </p:grpSpPr>
        <p:sp>
          <p:nvSpPr>
            <p:cNvPr id="6" name="TextBox 5"/>
            <p:cNvSpPr txBox="1"/>
            <p:nvPr/>
          </p:nvSpPr>
          <p:spPr>
            <a:xfrm>
              <a:off x="1008831" y="1778457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A855F7"/>
                  </a:solidFill>
                </a:defRPr>
              </a:pPr>
              <a:r>
                <a:rPr dirty="0" err="1"/>
                <a:t>用户类型</a:t>
              </a:r>
              <a:endParaRPr dirty="0"/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4666431" y="1778457"/>
              <a:ext cx="27432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A855F7"/>
                  </a:solidFill>
                </a:defRPr>
              </a:pPr>
              <a:r>
                <a:t>数量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7409631" y="1778457"/>
              <a:ext cx="27432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800" b="1">
                  <a:solidFill>
                    <a:srgbClr val="A855F7"/>
                  </a:solidFill>
                </a:defRPr>
              </a:pPr>
              <a:r>
                <a:t>客单价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1008831" y="2327097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0">
                  <a:solidFill>
                    <a:srgbClr val="FFFFFF"/>
                  </a:solidFill>
                </a:defRPr>
              </a:pPr>
              <a:r>
                <a:t>头部明星/经纪公司</a:t>
              </a:r>
            </a:p>
          </p:txBody>
        </p:sp>
        <p:sp>
          <p:nvSpPr>
            <p:cNvPr id="10" name="TextBox 9"/>
            <p:cNvSpPr txBox="1"/>
            <p:nvPr/>
          </p:nvSpPr>
          <p:spPr>
            <a:xfrm>
              <a:off x="4666431" y="2327097"/>
              <a:ext cx="27432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FBBF24"/>
                  </a:solidFill>
                </a:defRPr>
              </a:pPr>
              <a:r>
                <a:t>~5,000个</a:t>
              </a: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7409631" y="2327097"/>
              <a:ext cx="27432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0">
                  <a:solidFill>
                    <a:srgbClr val="22C55E"/>
                  </a:solidFill>
                </a:defRPr>
              </a:pPr>
              <a:r>
                <a:t>¥1,999/年</a:t>
              </a:r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1008831" y="2875737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0">
                  <a:solidFill>
                    <a:srgbClr val="FFFFFF"/>
                  </a:solidFill>
                </a:defRPr>
              </a:pPr>
              <a:r>
                <a:t>中腰部网红/KOL</a:t>
              </a:r>
            </a:p>
          </p:txBody>
        </p:sp>
        <p:sp>
          <p:nvSpPr>
            <p:cNvPr id="13" name="TextBox 12"/>
            <p:cNvSpPr txBox="1"/>
            <p:nvPr/>
          </p:nvSpPr>
          <p:spPr>
            <a:xfrm>
              <a:off x="4666431" y="2875737"/>
              <a:ext cx="27432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FBBF24"/>
                  </a:solidFill>
                </a:defRPr>
              </a:pPr>
              <a:r>
                <a:t>~50万个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7409631" y="2875737"/>
              <a:ext cx="27432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0">
                  <a:solidFill>
                    <a:srgbClr val="22C55E"/>
                  </a:solidFill>
                </a:defRPr>
              </a:pPr>
              <a:r>
                <a:t>¥199/年</a:t>
              </a:r>
            </a:p>
          </p:txBody>
        </p:sp>
        <p:sp>
          <p:nvSpPr>
            <p:cNvPr id="15" name="TextBox 14"/>
            <p:cNvSpPr txBox="1"/>
            <p:nvPr/>
          </p:nvSpPr>
          <p:spPr>
            <a:xfrm>
              <a:off x="1008831" y="3424377"/>
              <a:ext cx="36576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0">
                  <a:solidFill>
                    <a:srgbClr val="FFFFFF"/>
                  </a:solidFill>
                </a:defRPr>
              </a:pPr>
              <a:r>
                <a:t>普通用户</a:t>
              </a:r>
            </a:p>
          </p:txBody>
        </p:sp>
        <p:sp>
          <p:nvSpPr>
            <p:cNvPr id="16" name="TextBox 15"/>
            <p:cNvSpPr txBox="1"/>
            <p:nvPr/>
          </p:nvSpPr>
          <p:spPr>
            <a:xfrm>
              <a:off x="4666431" y="3424377"/>
              <a:ext cx="27432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1">
                  <a:solidFill>
                    <a:srgbClr val="FBBF24"/>
                  </a:solidFill>
                </a:defRPr>
              </a:pPr>
              <a:r>
                <a:t>~5,000万个</a:t>
              </a:r>
            </a:p>
          </p:txBody>
        </p:sp>
        <p:sp>
          <p:nvSpPr>
            <p:cNvPr id="17" name="TextBox 16"/>
            <p:cNvSpPr txBox="1"/>
            <p:nvPr/>
          </p:nvSpPr>
          <p:spPr>
            <a:xfrm>
              <a:off x="7409631" y="3424377"/>
              <a:ext cx="2743200" cy="457200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>
                <a:defRPr sz="1600" b="0">
                  <a:solidFill>
                    <a:srgbClr val="22C55E"/>
                  </a:solidFill>
                </a:defRPr>
              </a:pPr>
              <a:r>
                <a:t>免费引流</a:t>
              </a:r>
            </a:p>
          </p:txBody>
        </p:sp>
      </p:grpSp>
      <p:sp>
        <p:nvSpPr>
          <p:cNvPr id="18" name="Rounded Rectangle 17"/>
          <p:cNvSpPr/>
          <p:nvPr/>
        </p:nvSpPr>
        <p:spPr>
          <a:xfrm>
            <a:off x="2677160" y="4471313"/>
            <a:ext cx="6532880" cy="125476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1828800" y="4480560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rPr dirty="0"/>
              <a:t>保守估算（上线第1年）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923231" y="4999633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FBBF24"/>
                </a:solidFill>
              </a:defRPr>
            </a:pPr>
            <a:r>
              <a:rPr dirty="0"/>
              <a:t>5万付费用户，收入 ¥2000万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6" name="图片 25">
            <a:extLst>
              <a:ext uri="{FF2B5EF4-FFF2-40B4-BE49-F238E27FC236}">
                <a16:creationId xmlns:a16="http://schemas.microsoft.com/office/drawing/2014/main" id="{07E86ED4-7556-1324-6DEC-558049316460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t="6000" b="5543"/>
          <a:stretch>
            <a:fillRect/>
          </a:stretch>
        </p:blipFill>
        <p:spPr>
          <a:xfrm>
            <a:off x="0" y="0"/>
            <a:ext cx="122478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我们的优势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731520" y="1928948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维度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74720" y="19289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rPr dirty="0" err="1"/>
              <a:t>PortraitPay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7589520" y="1928948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A855F7"/>
                </a:solidFill>
              </a:defRPr>
            </a:pPr>
            <a:r>
              <a:t>其他方案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01188" y="26517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法律效力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544388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链上存证+律师楼背书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659188" y="265176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截图/录屏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01188" y="315468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维权成本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44388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律师楼包办，用户零成本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659188" y="315468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¥5万+律师费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1188" y="36576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被动收入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544388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授权分成，自动到账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659188" y="365760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无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01188" y="41605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隐私保护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544388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IPFS分布式存储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659188" y="4160520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中心化服务器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1188" y="4663439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品牌背书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544388" y="46634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22C55E"/>
                </a:solidFill>
              </a:defRPr>
            </a:pPr>
            <a:r>
              <a:t>Coinbase背书 Base链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659188" y="4663439"/>
            <a:ext cx="4114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FFFFFF"/>
                </a:solidFill>
              </a:defRPr>
            </a:pPr>
            <a:r>
              <a:t>无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3" name="图片 12">
            <a:extLst>
              <a:ext uri="{FF2B5EF4-FFF2-40B4-BE49-F238E27FC236}">
                <a16:creationId xmlns:a16="http://schemas.microsoft.com/office/drawing/2014/main" id="{5395E353-D464-CA08-6DA5-1CC14F4BF4BE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t="6000" b="5543"/>
          <a:stretch>
            <a:fillRect/>
          </a:stretch>
        </p:blipFill>
        <p:spPr>
          <a:xfrm>
            <a:off x="0" y="0"/>
            <a:ext cx="122478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609447" y="348343"/>
            <a:ext cx="11504176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名人入驻计划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914400" y="1408611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BBF24"/>
                </a:solidFill>
              </a:defRPr>
            </a:pPr>
            <a:r>
              <a:rPr dirty="0" err="1"/>
              <a:t>用名人背书吸引普通人，用普通人吸引更多名人</a:t>
            </a:r>
            <a:endParaRPr dirty="0"/>
          </a:p>
        </p:txBody>
      </p:sp>
      <p:sp>
        <p:nvSpPr>
          <p:cNvPr id="6" name="TextBox 5"/>
          <p:cNvSpPr txBox="1"/>
          <p:nvPr/>
        </p:nvSpPr>
        <p:spPr>
          <a:xfrm>
            <a:off x="3448600" y="210312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6366F1"/>
                </a:solidFill>
              </a:defRPr>
            </a:pPr>
            <a:r>
              <a:rPr dirty="0" err="1"/>
              <a:t>头部明星入驻</a:t>
            </a:r>
            <a:endParaRPr dirty="0"/>
          </a:p>
        </p:txBody>
      </p:sp>
      <p:sp>
        <p:nvSpPr>
          <p:cNvPr id="7" name="TextBox 6"/>
          <p:cNvSpPr txBox="1"/>
          <p:nvPr/>
        </p:nvSpPr>
        <p:spPr>
          <a:xfrm>
            <a:off x="3448600" y="269747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→ 媒体曝光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448600" y="3291839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→ 普通人涌入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48600" y="388620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→ 平台更有价值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448600" y="4480560"/>
            <a:ext cx="5486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0">
                <a:solidFill>
                  <a:srgbClr val="FFFFFF"/>
                </a:solidFill>
              </a:defRPr>
            </a:pPr>
            <a:r>
              <a:t>→ 更多明星入驻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74869" y="5467894"/>
            <a:ext cx="5486400" cy="511629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3117669" y="5472248"/>
            <a:ext cx="6400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rPr dirty="0" err="1"/>
              <a:t>已有基础：Sepolia</a:t>
            </a:r>
            <a:r>
              <a:rPr dirty="0"/>
              <a:t> </a:t>
            </a:r>
            <a:r>
              <a:rPr dirty="0" err="1"/>
              <a:t>测试网已稳定运行</a:t>
            </a:r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25" name="图片 24">
            <a:extLst>
              <a:ext uri="{FF2B5EF4-FFF2-40B4-BE49-F238E27FC236}">
                <a16:creationId xmlns:a16="http://schemas.microsoft.com/office/drawing/2014/main" id="{50F6AD0B-D67A-98F5-DC5B-63A1EA1E3D88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t="6000" b="5543"/>
          <a:stretch>
            <a:fillRect/>
          </a:stretch>
        </p:blipFill>
        <p:spPr>
          <a:xfrm>
            <a:off x="0" y="0"/>
            <a:ext cx="122478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收入来源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1371600"/>
            <a:ext cx="10058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Oval 5"/>
          <p:cNvSpPr/>
          <p:nvPr/>
        </p:nvSpPr>
        <p:spPr>
          <a:xfrm>
            <a:off x="8686800" y="1554480"/>
            <a:ext cx="640080" cy="640080"/>
          </a:xfrm>
          <a:prstGeom prst="ellipse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8686800" y="1645920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20" y="15087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6366F1"/>
                </a:solidFill>
              </a:defRPr>
            </a:pPr>
            <a:r>
              <a:t>个人认证年费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88720" y="192024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¥199/年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914400" y="2560320"/>
            <a:ext cx="10058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Oval 10"/>
          <p:cNvSpPr/>
          <p:nvPr/>
        </p:nvSpPr>
        <p:spPr>
          <a:xfrm>
            <a:off x="8686800" y="2743200"/>
            <a:ext cx="640080" cy="640080"/>
          </a:xfrm>
          <a:prstGeom prst="ellipse">
            <a:avLst/>
          </a:prstGeom>
          <a:solidFill>
            <a:srgbClr val="A855F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8686800" y="283463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30%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88720" y="2697479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A855F7"/>
                </a:solidFill>
              </a:defRPr>
            </a:pPr>
            <a:r>
              <a:t>企业/名人年费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188720" y="3108960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¥1,999/年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914400" y="3749039"/>
            <a:ext cx="10058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FBBF2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Oval 15"/>
          <p:cNvSpPr/>
          <p:nvPr/>
        </p:nvSpPr>
        <p:spPr>
          <a:xfrm>
            <a:off x="8686800" y="3931920"/>
            <a:ext cx="640080" cy="640080"/>
          </a:xfrm>
          <a:prstGeom prst="ellipse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8686800" y="402335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15%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88720" y="38862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FBBF24"/>
                </a:solidFill>
              </a:defRPr>
            </a:pPr>
            <a:r>
              <a:t>授权分成（模式B）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88720" y="429767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每次使用收取20%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14400" y="4937759"/>
            <a:ext cx="10058400" cy="1005840"/>
          </a:xfrm>
          <a:prstGeom prst="roundRect">
            <a:avLst/>
          </a:prstGeom>
          <a:solidFill>
            <a:srgbClr val="1E293B"/>
          </a:solidFill>
          <a:ln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1" name="Oval 20"/>
          <p:cNvSpPr/>
          <p:nvPr/>
        </p:nvSpPr>
        <p:spPr>
          <a:xfrm>
            <a:off x="8686800" y="5120640"/>
            <a:ext cx="640080" cy="640080"/>
          </a:xfrm>
          <a:prstGeom prst="ellipse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TextBox 21"/>
          <p:cNvSpPr txBox="1"/>
          <p:nvPr/>
        </p:nvSpPr>
        <p:spPr>
          <a:xfrm>
            <a:off x="8686800" y="5212079"/>
            <a:ext cx="6400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600" b="1">
                <a:solidFill>
                  <a:srgbClr val="FFFFFF"/>
                </a:solidFill>
              </a:defRPr>
            </a:pPr>
            <a:r>
              <a:t>5%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88720" y="50749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000" b="1">
                <a:solidFill>
                  <a:srgbClr val="22C55E"/>
                </a:solidFill>
              </a:defRPr>
            </a:pPr>
            <a:r>
              <a:t>法律服务导流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188720" y="5486399"/>
            <a:ext cx="6400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律师楼合作分成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" name="图片 16">
            <a:extLst>
              <a:ext uri="{FF2B5EF4-FFF2-40B4-BE49-F238E27FC236}">
                <a16:creationId xmlns:a16="http://schemas.microsoft.com/office/drawing/2014/main" id="{CC3A03AD-4A2E-1E29-678E-F46BD9195F11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t="6000" b="5543"/>
          <a:stretch>
            <a:fillRect/>
          </a:stretch>
        </p:blipFill>
        <p:spPr>
          <a:xfrm>
            <a:off x="0" y="0"/>
            <a:ext cx="122478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团队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1371600" y="1645920"/>
            <a:ext cx="91440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828800" y="182880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</a:defRPr>
            </a:pPr>
            <a:r>
              <a:t>创始人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82880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待填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28600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rPr dirty="0" err="1"/>
              <a:t>状态</a:t>
            </a:r>
            <a:r>
              <a:rPr dirty="0"/>
              <a:t>: </a:t>
            </a:r>
            <a:r>
              <a:rPr dirty="0" err="1"/>
              <a:t>待填</a:t>
            </a:r>
            <a:endParaRPr dirty="0"/>
          </a:p>
        </p:txBody>
      </p:sp>
      <p:sp>
        <p:nvSpPr>
          <p:cNvPr id="9" name="Rounded Rectangle 8"/>
          <p:cNvSpPr/>
          <p:nvPr/>
        </p:nvSpPr>
        <p:spPr>
          <a:xfrm>
            <a:off x="1371600" y="2926080"/>
            <a:ext cx="91440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1828800" y="310896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</a:defRPr>
            </a:pPr>
            <a:r>
              <a:t>律师楼合作方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0" y="310896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全程法律背书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828800" y="356616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状态: 待填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1371600" y="4206240"/>
            <a:ext cx="9144000" cy="109728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1828800" y="4389120"/>
            <a:ext cx="2743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200" b="1">
                <a:solidFill>
                  <a:srgbClr val="A855F7"/>
                </a:solidFill>
              </a:defRPr>
            </a:pPr>
            <a:r>
              <a:t>技术团队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0" y="4389120"/>
            <a:ext cx="3657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</a:defRPr>
            </a:pPr>
            <a:r>
              <a:t>待填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828800" y="4846320"/>
            <a:ext cx="73152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94A3B8"/>
                </a:solidFill>
              </a:defRPr>
            </a:pPr>
            <a:r>
              <a:t>状态: 待填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8636FD0-6A46-EA66-93AA-F3DB3EC1F514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t="6000" b="5543"/>
          <a:stretch>
            <a:fillRect/>
          </a:stretch>
        </p:blipFill>
        <p:spPr>
          <a:xfrm>
            <a:off x="0" y="0"/>
            <a:ext cx="122478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下一步</a:t>
            </a:r>
            <a:endParaRPr dirty="0"/>
          </a:p>
        </p:txBody>
      </p:sp>
      <p:sp>
        <p:nvSpPr>
          <p:cNvPr id="5" name="Rounded Rectangle 4"/>
          <p:cNvSpPr/>
          <p:nvPr/>
        </p:nvSpPr>
        <p:spPr>
          <a:xfrm>
            <a:off x="914400" y="1188720"/>
            <a:ext cx="10058400" cy="914400"/>
          </a:xfrm>
          <a:prstGeom prst="round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914400" y="1371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FFFFFF"/>
                </a:solidFill>
              </a:defRPr>
            </a:pPr>
            <a:r>
              <a:t>现在：已有产品，Beta运行中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914400" y="2468880"/>
            <a:ext cx="182880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914400" y="260604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30天内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670278" y="2606895"/>
            <a:ext cx="601196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FFFFFF"/>
                </a:solidFill>
              </a:defRPr>
            </a:pPr>
            <a:r>
              <a:rPr dirty="0"/>
              <a:t>签约3-5个名人/</a:t>
            </a:r>
            <a:r>
              <a:rPr dirty="0" err="1"/>
              <a:t>经纪公司</a:t>
            </a:r>
            <a:br>
              <a:rPr lang="en-US" dirty="0"/>
            </a:br>
            <a:r>
              <a:rPr lang="zh-CN" altLang="en-US" dirty="0"/>
              <a:t>（免年费，律师楼按实际情况收服务费费）</a:t>
            </a:r>
            <a:endParaRPr dirty="0"/>
          </a:p>
        </p:txBody>
      </p:sp>
      <p:sp>
        <p:nvSpPr>
          <p:cNvPr id="10" name="Rounded Rectangle 9"/>
          <p:cNvSpPr/>
          <p:nvPr/>
        </p:nvSpPr>
        <p:spPr>
          <a:xfrm>
            <a:off x="914400" y="3474720"/>
            <a:ext cx="182880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914400" y="361188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90天内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00400" y="356616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FFFFFF"/>
                </a:solidFill>
              </a:defRPr>
            </a:pPr>
            <a:r>
              <a:rPr dirty="0" err="1"/>
              <a:t>上线主网（Base</a:t>
            </a:r>
            <a:r>
              <a:rPr dirty="0"/>
              <a:t>），</a:t>
            </a:r>
            <a:r>
              <a:rPr dirty="0" err="1"/>
              <a:t>开启收费</a:t>
            </a:r>
            <a:endParaRPr dirty="0"/>
          </a:p>
        </p:txBody>
      </p:sp>
      <p:sp>
        <p:nvSpPr>
          <p:cNvPr id="13" name="Rounded Rectangle 12"/>
          <p:cNvSpPr/>
          <p:nvPr/>
        </p:nvSpPr>
        <p:spPr>
          <a:xfrm>
            <a:off x="914400" y="4480560"/>
            <a:ext cx="1828800" cy="64008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914400" y="461772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FFFFF"/>
                </a:solidFill>
              </a:defRPr>
            </a:pPr>
            <a:r>
              <a:t>12个月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200400" y="4572000"/>
            <a:ext cx="7315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2000" b="0">
                <a:solidFill>
                  <a:srgbClr val="FFFFFF"/>
                </a:solidFill>
              </a:defRPr>
            </a:pPr>
            <a:r>
              <a:rPr dirty="0"/>
              <a:t>5万付费用户，¥2000万收入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1" name="图片 10">
            <a:extLst>
              <a:ext uri="{FF2B5EF4-FFF2-40B4-BE49-F238E27FC236}">
                <a16:creationId xmlns:a16="http://schemas.microsoft.com/office/drawing/2014/main" id="{0A15D6BE-D5FB-21B8-B62F-5AA7451E4222}"/>
              </a:ext>
            </a:extLst>
          </p:cNvPr>
          <p:cNvPicPr>
            <a:picLocks noGrp="1" noRot="1" noMove="1" noResize="1" noEditPoints="1" noAdjustHandles="1" noChangeArrowheads="1" noChangeShapeType="1" noCrop="1"/>
          </p:cNvPicPr>
          <p:nvPr/>
        </p:nvPicPr>
        <p:blipFill>
          <a:blip r:embed="rId2">
            <a:alphaModFix amt="5000"/>
            <a:duotone>
              <a:prstClr val="black"/>
              <a:schemeClr val="accent1">
                <a:tint val="45000"/>
                <a:satMod val="400000"/>
              </a:schemeClr>
            </a:duotone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25000"/>
                    </a14:imgEffect>
                  </a14:imgLayer>
                </a14:imgProps>
              </a:ext>
            </a:extLst>
          </a:blip>
          <a:srcRect t="6000" b="5543"/>
          <a:stretch>
            <a:fillRect/>
          </a:stretch>
        </p:blipFill>
        <p:spPr>
          <a:xfrm>
            <a:off x="0" y="0"/>
            <a:ext cx="12247880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常见问题</a:t>
            </a:r>
            <a:endParaRPr dirty="0"/>
          </a:p>
        </p:txBody>
      </p:sp>
      <p:sp>
        <p:nvSpPr>
          <p:cNvPr id="5" name="TextBox 4"/>
          <p:cNvSpPr txBox="1"/>
          <p:nvPr/>
        </p:nvSpPr>
        <p:spPr>
          <a:xfrm>
            <a:off x="842618" y="1731379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rPr dirty="0"/>
              <a:t>Q: </a:t>
            </a:r>
            <a:r>
              <a:rPr dirty="0" err="1"/>
              <a:t>链上证书有法律效力吗</a:t>
            </a:r>
            <a:r>
              <a:rPr dirty="0"/>
              <a:t>？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42618" y="2188579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rPr dirty="0"/>
              <a:t>A: </a:t>
            </a:r>
            <a:r>
              <a:rPr dirty="0" err="1"/>
              <a:t>有。IPFS哈希+时间戳</a:t>
            </a:r>
            <a:r>
              <a:rPr dirty="0"/>
              <a:t>=</a:t>
            </a:r>
            <a:r>
              <a:rPr dirty="0" err="1"/>
              <a:t>类公证效力，律师楼已验证可作为诉讼证据</a:t>
            </a:r>
            <a:r>
              <a:rPr dirty="0"/>
              <a:t>。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42618" y="3011539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rPr dirty="0"/>
              <a:t>Q: </a:t>
            </a:r>
            <a:r>
              <a:rPr dirty="0" err="1"/>
              <a:t>用户不付钱偷偷用怎么办</a:t>
            </a:r>
            <a:r>
              <a:rPr dirty="0"/>
              <a:t>？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42618" y="3468739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rPr dirty="0"/>
              <a:t>A: 平台的价值是"</a:t>
            </a:r>
            <a:r>
              <a:rPr dirty="0" err="1"/>
              <a:t>被发现的概率提高</a:t>
            </a:r>
            <a:r>
              <a:rPr dirty="0"/>
              <a:t>"+"</a:t>
            </a:r>
            <a:r>
              <a:rPr dirty="0" err="1"/>
              <a:t>维权有保障</a:t>
            </a:r>
            <a:r>
              <a:rPr dirty="0"/>
              <a:t>"，</a:t>
            </a:r>
            <a:r>
              <a:rPr dirty="0" err="1"/>
              <a:t>让授权比侵权更划算</a:t>
            </a:r>
            <a:r>
              <a:rPr dirty="0"/>
              <a:t>。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42618" y="4291698"/>
            <a:ext cx="100584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FBBF24"/>
                </a:solidFill>
              </a:defRPr>
            </a:pPr>
            <a:r>
              <a:rPr dirty="0"/>
              <a:t>Q: </a:t>
            </a:r>
            <a:r>
              <a:rPr dirty="0" err="1"/>
              <a:t>为什么不自己做侵权监测</a:t>
            </a:r>
            <a:r>
              <a:rPr dirty="0"/>
              <a:t>？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2618" y="4748899"/>
            <a:ext cx="1005840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400" b="0">
                <a:solidFill>
                  <a:srgbClr val="94A3B8"/>
                </a:solidFill>
              </a:defRPr>
            </a:pPr>
            <a:r>
              <a:rPr dirty="0"/>
              <a:t>A: </a:t>
            </a:r>
            <a:r>
              <a:rPr dirty="0" err="1"/>
              <a:t>成本高、效果差、法律风险大。律师楼模式更轻、更有效、更可信</a:t>
            </a:r>
            <a:r>
              <a:rPr dirty="0"/>
              <a:t>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305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8" name="图片 7">
            <a:extLst>
              <a:ext uri="{FF2B5EF4-FFF2-40B4-BE49-F238E27FC236}">
                <a16:creationId xmlns:a16="http://schemas.microsoft.com/office/drawing/2014/main" id="{1088306A-68DD-C0E7-F912-741265CDE834}"/>
              </a:ext>
            </a:extLst>
          </p:cNvPr>
          <p:cNvPicPr>
            <a:picLocks noGrp="1" noRot="1" noChangeAspect="1" noMove="1" noResize="1" noEditPoints="1" noAdjustHandles="1" noChangeArrowheads="1" noChangeShapeType="1" noCrop="1"/>
          </p:cNvPicPr>
          <p:nvPr/>
        </p:nvPicPr>
        <p:blipFill>
          <a:blip r:embed="rId2">
            <a:alphaModFix amt="20000"/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-50000"/>
                    </a14:imgEffect>
                  </a14:imgLayer>
                </a14:imgProps>
              </a:ext>
            </a:extLst>
          </a:blip>
          <a:srcRect l="-524"/>
          <a:stretch>
            <a:fillRect/>
          </a:stretch>
        </p:blipFill>
        <p:spPr>
          <a:xfrm>
            <a:off x="-64093" y="0"/>
            <a:ext cx="12301672" cy="6858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1898468" y="2965995"/>
            <a:ext cx="839506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7200" b="1">
                <a:solidFill>
                  <a:srgbClr val="FFFFFF"/>
                </a:solidFill>
              </a:defRPr>
            </a:pPr>
            <a:r>
              <a:rPr lang="en-US" altLang="zh-CN" dirty="0" err="1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PortraitPay</a:t>
            </a:r>
            <a:r>
              <a:rPr lang="en-US" altLang="zh-CN" dirty="0">
                <a:latin typeface="Meiryo UI" panose="020B0604030504040204" pitchFamily="34" charset="-128"/>
                <a:ea typeface="Meiryo UI" panose="020B0604030504040204" pitchFamily="34" charset="-128"/>
                <a:cs typeface="Meiryo UI" panose="020B0604030504040204" pitchFamily="34" charset="-128"/>
              </a:rPr>
              <a:t> AI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46759" y="4153989"/>
            <a:ext cx="10698480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800" b="0">
                <a:solidFill>
                  <a:srgbClr val="FBBF24"/>
                </a:solidFill>
              </a:defRPr>
            </a:pPr>
            <a:r>
              <a:rPr dirty="0" err="1"/>
              <a:t>你的肖像，你的权利</a:t>
            </a:r>
            <a:r>
              <a:rPr dirty="0"/>
              <a:t>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029200"/>
            <a:ext cx="10698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94A3B8"/>
                </a:solidFill>
              </a:defRPr>
            </a:pPr>
            <a:r>
              <a:t>本文档有效期6个月</a:t>
            </a:r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C664923-8723-A035-78C4-FAF3840D76C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203180" y="1463040"/>
            <a:ext cx="1755160" cy="1505192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73152"/>
          </a:xfrm>
          <a:prstGeom prst="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36576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</a:defRPr>
            </a:pPr>
            <a:r>
              <a:rPr dirty="0" err="1"/>
              <a:t>融资需求（可选</a:t>
            </a:r>
            <a:r>
              <a:rPr dirty="0"/>
              <a:t>）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371600" y="1371600"/>
            <a:ext cx="45720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137160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天使轮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71600" y="2103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</a:defRPr>
            </a:pPr>
            <a:r>
              <a:t>¥200万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律师楼合作拓展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名人入驻 BDA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400800" y="1371600"/>
            <a:ext cx="4572000" cy="2743200"/>
          </a:xfrm>
          <a:prstGeom prst="roundRect">
            <a:avLst/>
          </a:prstGeom>
          <a:solidFill>
            <a:srgbClr val="1E293B"/>
          </a:solidFill>
          <a:ln>
            <a:solidFill>
              <a:srgbClr val="6366F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6400800" y="1554480"/>
            <a:ext cx="4572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400" b="1">
                <a:solidFill>
                  <a:srgbClr val="A855F7"/>
                </a:solidFill>
              </a:defRPr>
            </a:pPr>
            <a:r>
              <a:t>A轮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0" y="2103120"/>
            <a:ext cx="45720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BBF24"/>
                </a:solidFill>
              </a:defRPr>
            </a:pPr>
            <a:r>
              <a:t>¥1500万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858000" y="292608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主网上线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858000" y="329184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团队扩张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858000" y="365760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00" b="0">
                <a:solidFill>
                  <a:srgbClr val="FFFFFF"/>
                </a:solidFill>
              </a:defRPr>
            </a:pPr>
            <a:r>
              <a:t>• 运营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" y="438912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</a:defRPr>
            </a:pPr>
            <a:r>
              <a:t>估值逻辑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914400" y="4937760"/>
            <a:ext cx="10058400" cy="1188720"/>
          </a:xfrm>
          <a:prstGeom prst="roundRect">
            <a:avLst/>
          </a:prstGeom>
          <a:solidFill>
            <a:srgbClr val="6366F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914400" y="5212080"/>
            <a:ext cx="10058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FFFFFF"/>
                </a:solidFill>
              </a:defRPr>
            </a:pPr>
            <a:r>
              <a:t>5万付费用户 × ¥500/年 ARPU = ¥2500万 ARR，3-5x 市销率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338</TotalTime>
  <Words>472</Words>
  <Application>Microsoft Office PowerPoint</Application>
  <PresentationFormat>宽屏</PresentationFormat>
  <Paragraphs>158</Paragraphs>
  <Slides>14</Slides>
  <Notes>0</Notes>
  <HiddenSlides>1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19" baseType="lpstr">
      <vt:lpstr>Meiryo UI</vt:lpstr>
      <vt:lpstr>思源黑体 CN Bold</vt:lpstr>
      <vt:lpstr>Arial</vt:lpstr>
      <vt:lpstr>Calibri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帝 杭</cp:lastModifiedBy>
  <cp:revision>5</cp:revision>
  <dcterms:created xsi:type="dcterms:W3CDTF">2013-01-27T09:14:16Z</dcterms:created>
  <dcterms:modified xsi:type="dcterms:W3CDTF">2026-04-16T08:38:21Z</dcterms:modified>
  <cp:category/>
</cp:coreProperties>
</file>